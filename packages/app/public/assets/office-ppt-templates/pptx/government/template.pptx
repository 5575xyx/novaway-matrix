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42318"/>
              </a:solidFill>
              <a:effectLst/>
            </c:spPr>
          </c:dPt>
          <c:dPt>
            <c:idx val="1"/>
            <c:bubble3D val="0"/>
            <c:spPr>
              <a:solidFill>
                <a:srgbClr val="244C86"/>
              </a:solidFill>
              <a:effectLst/>
            </c:spPr>
          </c:dPt>
          <c:dPt>
            <c:idx val="2"/>
            <c:bubble3D val="0"/>
            <c:spPr>
              <a:solidFill>
                <a:srgbClr val="71809A"/>
              </a:solidFill>
              <a:effectLst/>
            </c:spPr>
          </c:dPt>
          <c:dPt>
            <c:idx val="3"/>
            <c:bubble3D val="0"/>
            <c:spPr>
              <a:solidFill>
                <a:srgbClr val="F8FA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转化</c:v>
                </c:pt>
                <c:pt idx="1">
                  <c:v>NPS</c:v>
                </c:pt>
                <c:pt idx="2">
                  <c:v>复购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52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71809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政务汇报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86200" y="1554480"/>
            <a:ext cx="1371600" cy="73152"/>
          </a:xfrm>
          <a:prstGeom prst="rect">
            <a:avLst/>
          </a:prstGeom>
          <a:solidFill>
            <a:srgbClr val="B4231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180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164592" cy="265176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315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关键观点三：给出下一步可执行动作。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政策依据 / 工作要点 / 下一步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180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B42318">
              <a:alpha val="18000"/>
            </a:srgbClr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28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B42318">
              <a:alpha val="18000"/>
            </a:srgbClr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828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0168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34456" y="155448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B42318">
              <a:alpha val="18000"/>
            </a:srgbClr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828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08776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180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180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3657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657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026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3657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7398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34%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14630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180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017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把关键结论和下一步行动再强调一次。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180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政务汇报</dc:title>
  <dc:subject>庄重蓝红、简洁标题栏和规范信息层级，适合政务、党建和公共项目汇报。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