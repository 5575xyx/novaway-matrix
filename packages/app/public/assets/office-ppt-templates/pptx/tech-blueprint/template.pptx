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7FA0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6350">
            <a:solidFill>
              <a:srgbClr val="7FA0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6350">
            <a:solidFill>
              <a:srgbClr val="7FA0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7FA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7FA0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7FA0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7FA0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6350">
            <a:solidFill>
              <a:srgbClr val="7FA0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7FA0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731520"/>
            <a:ext cx="7680960" cy="109728"/>
          </a:xfrm>
          <a:prstGeom prst="rect">
            <a:avLst/>
          </a:prstGeom>
          <a:solidFill>
            <a:srgbClr val="6CA9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BLUEPRINT // 技术方案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18288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标题标题标题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把核心结论写成一句话，让读者一眼看到这次汇报的价值。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9144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0F2747"/>
          </a:solidFill>
          <a:ln w="12700">
            <a:solidFill>
              <a:srgbClr val="6CA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13385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A9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目录与主线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7680960" cy="0"/>
          </a:xfrm>
          <a:prstGeom prst="line">
            <a:avLst/>
          </a:prstGeom>
          <a:noFill/>
          <a:ln w="25400">
            <a:solidFill>
              <a:srgbClr val="6CA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194560"/>
            <a:ext cx="384048" cy="384048"/>
          </a:xfrm>
          <a:prstGeom prst="ellipse">
            <a:avLst/>
          </a:prstGeom>
          <a:solidFill>
            <a:srgbClr val="6CA9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核心背景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07792" y="2194560"/>
            <a:ext cx="384048" cy="384048"/>
          </a:xfrm>
          <a:prstGeom prst="ellipse">
            <a:avLst/>
          </a:prstGeom>
          <a:solidFill>
            <a:srgbClr val="6CA9FF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目标与方法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8032" y="2194560"/>
            <a:ext cx="384048" cy="384048"/>
          </a:xfrm>
          <a:prstGeom prst="ellipse">
            <a:avLst/>
          </a:prstGeom>
          <a:solidFill>
            <a:srgbClr val="6CA9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关键发现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48272" y="2194560"/>
            <a:ext cx="384048" cy="384048"/>
          </a:xfrm>
          <a:prstGeom prst="ellipse">
            <a:avLst/>
          </a:prstGeom>
          <a:solidFill>
            <a:srgbClr val="6CA9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行动建议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FA0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A9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0F2747"/>
          </a:solidFill>
          <a:ln w="12700">
            <a:solidFill>
              <a:srgbClr val="6CA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2084832"/>
            <a:ext cx="365760" cy="365760"/>
          </a:xfrm>
          <a:prstGeom prst="ellipse">
            <a:avLst/>
          </a:prstGeom>
          <a:solidFill>
            <a:srgbClr val="6CA9FF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578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关键观点一：先讲结论，再给支撑。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5915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0F2747"/>
          </a:solidFill>
          <a:ln w="12700">
            <a:solidFill>
              <a:srgbClr val="6CA9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2084832"/>
            <a:ext cx="365760" cy="365760"/>
          </a:xfrm>
          <a:prstGeom prst="ellipse">
            <a:avLst/>
          </a:prstGeom>
          <a:solidFill>
            <a:srgbClr val="6CA9FF"/>
          </a:solidFill>
          <a:ln/>
        </p:spPr>
      </p:sp>
      <p:sp>
        <p:nvSpPr>
          <p:cNvPr id="11" name="Text 9"/>
          <p:cNvSpPr/>
          <p:nvPr/>
        </p:nvSpPr>
        <p:spPr>
          <a:xfrm>
            <a:off x="2715768" y="2578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关键观点二：用数据说明变化和差距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7939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628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0F2747"/>
          </a:solidFill>
          <a:ln w="12700">
            <a:solidFill>
              <a:srgbClr val="6CA9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2084832"/>
            <a:ext cx="365760" cy="365760"/>
          </a:xfrm>
          <a:prstGeom prst="ellipse">
            <a:avLst/>
          </a:prstGeom>
          <a:solidFill>
            <a:srgbClr val="6CA9FF"/>
          </a:solidFill>
          <a:ln/>
        </p:spPr>
      </p:sp>
      <p:sp>
        <p:nvSpPr>
          <p:cNvPr id="15" name="Text 13"/>
          <p:cNvSpPr/>
          <p:nvPr/>
        </p:nvSpPr>
        <p:spPr>
          <a:xfrm>
            <a:off x="4636008" y="2578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关键观点三：给出下一步可执行动作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FA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A9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3040" y="1645920"/>
            <a:ext cx="502920" cy="502920"/>
          </a:xfrm>
          <a:prstGeom prst="ellipse">
            <a:avLst/>
          </a:prstGeom>
          <a:solidFill>
            <a:srgbClr val="6CA9FF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148840"/>
            <a:ext cx="1005840" cy="0"/>
          </a:xfrm>
          <a:prstGeom prst="line">
            <a:avLst/>
          </a:prstGeom>
          <a:noFill/>
          <a:ln w="12700">
            <a:solidFill>
              <a:srgbClr val="7FA0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42316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现状：用一句量化现状。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502920" cy="502920"/>
          </a:xfrm>
          <a:prstGeom prst="ellipse">
            <a:avLst/>
          </a:prstGeom>
          <a:solidFill>
            <a:srgbClr val="6CA9FF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2148840"/>
            <a:ext cx="1005840" cy="0"/>
          </a:xfrm>
          <a:prstGeom prst="line">
            <a:avLst/>
          </a:prstGeom>
          <a:noFill/>
          <a:ln w="12700">
            <a:solidFill>
              <a:srgbClr val="7FA0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242316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880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路径：说明推进节奏。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1645920"/>
            <a:ext cx="502920" cy="502920"/>
          </a:xfrm>
          <a:prstGeom prst="ellipse">
            <a:avLst/>
          </a:prstGeom>
          <a:solidFill>
            <a:srgbClr val="6CA9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0" y="2148840"/>
            <a:ext cx="1005840" cy="0"/>
          </a:xfrm>
          <a:prstGeom prst="line">
            <a:avLst/>
          </a:prstGeom>
          <a:noFill/>
          <a:ln w="12700">
            <a:solidFill>
              <a:srgbClr val="7FA0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42316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2880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结果：突出可验收成果。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FA0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A9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SYS-1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5544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营收：1.28 亿 → 1.64 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SYS-2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221284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活跃用户：82 万 → 106 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7121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SYS-3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87121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转化率：3.6% → 4.4%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数据采集 → 校验 → 指标化 → 可视化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FA0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46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●  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nova --summary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谢谢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把关键结论和下一步行动再强调一次。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FA0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Blueprint 技术蓝图</dc:title>
  <dc:subject>深蓝图纸、细网格和工程标注，适合技术方案、产品架构与研发里程碑。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