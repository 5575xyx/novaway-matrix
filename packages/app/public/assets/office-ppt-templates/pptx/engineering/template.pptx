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预算 vs 实际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收入</c:v>
                  </c:pt>
                  <c:pt idx="1">
                    <c:v>成本</c:v>
                  </c:pt>
                  <c:pt idx="2">
                    <c:v>利润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7.8</c:v>
                </c:pt>
                <c:pt idx="2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收入</c:v>
                  </c:pt>
                  <c:pt idx="1">
                    <c:v>成本</c:v>
                  </c:pt>
                  <c:pt idx="2">
                    <c:v>利润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12.6</c:v>
                </c:pt>
                <c:pt idx="1">
                  <c:v>7.4</c:v>
                </c:pt>
                <c:pt idx="2">
                  <c:v>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1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1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FILE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编号 / 阶段 / 交付物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640080"/>
            <a:ext cx="4754880" cy="3840480"/>
          </a:xfrm>
          <a:prstGeom prst="rect">
            <a:avLst/>
          </a:prstGeom>
          <a:solidFill>
            <a:srgbClr val="F6F5F1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234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2606040"/>
            <a:ext cx="3931920" cy="73152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里程碑 A → B → 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里程碑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286000" cy="566928"/>
          </a:xfrm>
          <a:prstGeom prst="rect">
            <a:avLst/>
          </a:prstGeom>
          <a:solidFill>
            <a:srgbClr val="2F5D8A">
              <a:alpha val="8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8013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阶段说明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286000" cy="566928"/>
          </a:xfrm>
          <a:prstGeom prst="rect">
            <a:avLst/>
          </a:prstGeom>
          <a:solidFill>
            <a:srgbClr val="2F5D8A">
              <a:alpha val="8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267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5786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阶段说明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2286000" cy="566928"/>
          </a:xfrm>
          <a:prstGeom prst="rect">
            <a:avLst/>
          </a:prstGeom>
          <a:solidFill>
            <a:srgbClr val="2F5D8A">
              <a:alpha val="8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044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3558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阶段说明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2286000" cy="566928"/>
          </a:xfrm>
          <a:prstGeom prst="rect">
            <a:avLst/>
          </a:prstGeom>
          <a:solidFill>
            <a:srgbClr val="2F5D8A">
              <a:alpha val="8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8221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41330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阶段说明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D9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737360" cy="914400"/>
          </a:xfrm>
          <a:prstGeom prst="rect">
            <a:avLst/>
          </a:prstGeom>
          <a:solidFill>
            <a:srgbClr val="2F5D8A">
              <a:alpha val="8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482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关键观点一：先讲结论，再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04872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1737360" cy="914400"/>
          </a:xfrm>
          <a:prstGeom prst="rect">
            <a:avLst/>
          </a:prstGeom>
          <a:solidFill>
            <a:srgbClr val="2F5D8A">
              <a:alpha val="8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0482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关键观点二：用数据说明变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70832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1737360" cy="914400"/>
          </a:xfrm>
          <a:prstGeom prst="rect">
            <a:avLst/>
          </a:prstGeom>
          <a:solidFill>
            <a:srgbClr val="2F5D8A">
              <a:alpha val="8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0482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关键观点三：给出下一步可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D91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664208"/>
            <a:ext cx="4297680" cy="201168"/>
          </a:xfrm>
          <a:prstGeom prst="rect">
            <a:avLst/>
          </a:prstGeom>
          <a:solidFill>
            <a:srgbClr val="E9E8E4"/>
          </a:solidFill>
          <a:ln w="12700">
            <a:solidFill>
              <a:srgbClr val="8D91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1664208"/>
            <a:ext cx="1097280" cy="20116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5544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487168"/>
            <a:ext cx="4297680" cy="201168"/>
          </a:xfrm>
          <a:prstGeom prst="rect">
            <a:avLst/>
          </a:prstGeom>
          <a:solidFill>
            <a:srgbClr val="E9E8E4"/>
          </a:solidFill>
          <a:ln w="12700">
            <a:solidFill>
              <a:srgbClr val="8D91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87168"/>
            <a:ext cx="2194560" cy="20116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2377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3310128"/>
            <a:ext cx="4297680" cy="201168"/>
          </a:xfrm>
          <a:prstGeom prst="rect">
            <a:avLst/>
          </a:prstGeom>
          <a:solidFill>
            <a:srgbClr val="E9E8E4"/>
          </a:solidFill>
          <a:ln w="12700">
            <a:solidFill>
              <a:srgbClr val="8D91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310128"/>
            <a:ext cx="3291840" cy="20116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32004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D91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7589520" cy="237744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项目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预算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实际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偏差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收入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+5%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成本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7.8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-5%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利润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+24%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822960" y="3931920"/>
          <a:ext cx="749808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D91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E8E4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3291840"/>
            <a:ext cx="2926080" cy="2926080"/>
          </a:xfrm>
          <a:prstGeom prst="ellipse">
            <a:avLst/>
          </a:prstGeom>
          <a:solidFill>
            <a:srgbClr val="2F5D8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426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F5D8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D91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1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工程交付</dc:title>
  <dc:subject>工程橙与冷灰、节点图和进度面板，适合基建、工程项目与实施汇报。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