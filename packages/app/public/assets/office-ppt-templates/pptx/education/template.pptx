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7DD2"/>
              </a:solidFill>
              <a:effectLst/>
            </c:spPr>
          </c:dPt>
          <c:dPt>
            <c:idx val="1"/>
            <c:bubble3D val="0"/>
            <c:spPr>
              <a:solidFill>
                <a:srgbClr val="2D7DD2"/>
              </a:solidFill>
              <a:effectLst/>
            </c:spPr>
          </c:dPt>
          <c:dPt>
            <c:idx val="2"/>
            <c:bubble3D val="0"/>
            <c:spPr>
              <a:solidFill>
                <a:srgbClr val="7F8C8D"/>
              </a:solidFill>
              <a:effectLst/>
            </c:spPr>
          </c:dPt>
          <c:dPt>
            <c:idx val="3"/>
            <c:bubble3D val="0"/>
            <c:spPr>
              <a:solidFill>
                <a:srgbClr val="FFF9E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转化</c:v>
                </c:pt>
                <c:pt idx="1">
                  <c:v>NPS</c:v>
                </c:pt>
                <c:pt idx="2">
                  <c:v>复购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34</c:v>
                </c:pt>
                <c:pt idx="1">
                  <c:v>52</c:v>
                </c:pt>
                <c:pt idx="2">
                  <c:v>28</c:v>
                </c:pt>
                <c:pt idx="3">
                  <c:v>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7F8C8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834640" cy="1234440"/>
          </a:xfrm>
          <a:prstGeom prst="ellipse">
            <a:avLst/>
          </a:prstGeom>
          <a:solidFill>
            <a:srgbClr val="2D7DD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3657600"/>
            <a:ext cx="2926080" cy="1188720"/>
          </a:xfrm>
          <a:prstGeom prst="ellipse">
            <a:avLst/>
          </a:prstGeom>
          <a:solidFill>
            <a:srgbClr val="2D7DD2">
              <a:alpha val="7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Education 教学课件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标题标题标题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把核心结论写成一句话，让读者一眼看到这次汇报的价值。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目录与主线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7680960" cy="0"/>
          </a:xfrm>
          <a:prstGeom prst="line">
            <a:avLst/>
          </a:prstGeom>
          <a:noFill/>
          <a:ln w="25400">
            <a:solidFill>
              <a:srgbClr val="2D7D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194560"/>
            <a:ext cx="384048" cy="384048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核心背景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07792" y="2194560"/>
            <a:ext cx="384048" cy="384048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目标与方法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8032" y="2194560"/>
            <a:ext cx="384048" cy="384048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48272" y="2194560"/>
            <a:ext cx="384048" cy="384048"/>
          </a:xfrm>
          <a:prstGeom prst="ellipse">
            <a:avLst/>
          </a:prstGeom>
          <a:solidFill>
            <a:srgbClr val="2D7DD2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关键观点一：先讲结论，再给支撑。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关键观点二：用数据说明变化和差距。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关键观点三：给出下一步可执行动作。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64592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FFD166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课堂任务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2514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把本页知识点应用到一个小练习里。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2D7DD2">
              <a:alpha val="24000"/>
            </a:srgbClr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现状：用一句量化现状。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2D7DD2">
              <a:alpha val="24000"/>
            </a:srgbClr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路径：说明推进节奏。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2D7DD2">
              <a:alpha val="24000"/>
            </a:srgbClr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结果：突出可验收成果。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1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657600" cy="548640"/>
          </a:xfrm>
          <a:prstGeom prst="rect">
            <a:avLst/>
          </a:prstGeom>
          <a:solidFill>
            <a:srgbClr val="FFF9EA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600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221992"/>
            <a:ext cx="3657600" cy="548640"/>
          </a:xfrm>
          <a:prstGeom prst="rect">
            <a:avLst/>
          </a:prstGeom>
          <a:solidFill>
            <a:srgbClr val="FFF9EA"/>
          </a:solidFill>
          <a:ln w="9525">
            <a:solidFill>
              <a:srgbClr val="2D7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134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313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3134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935224"/>
            <a:ext cx="3657600" cy="548640"/>
          </a:xfrm>
          <a:prstGeom prst="rect">
            <a:avLst/>
          </a:prstGeom>
          <a:solidFill>
            <a:srgbClr val="FFF9EA"/>
          </a:solidFill>
          <a:ln w="9525">
            <a:solidFill>
              <a:srgbClr val="2D7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266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30266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302666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648456"/>
            <a:ext cx="3657600" cy="548640"/>
          </a:xfrm>
          <a:prstGeom prst="rect">
            <a:avLst/>
          </a:prstGeom>
          <a:solidFill>
            <a:srgbClr val="FFF9EA"/>
          </a:solidFill>
          <a:ln w="9525">
            <a:solidFill>
              <a:srgbClr val="2D7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398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73989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37398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34%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709160" y="146304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1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把关键结论和下一步行动再强调一次。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0" y="2651760"/>
            <a:ext cx="1737360" cy="1737360"/>
          </a:xfrm>
          <a:prstGeom prst="ellipse">
            <a:avLst/>
          </a:prstGeom>
          <a:solidFill>
            <a:srgbClr val="2D7DD2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12280" y="3246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 教学课件</dc:title>
  <dc:subject>明快黄蓝、圆润卡片和清晰步骤，适合培训、课程、科普和校园分享。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