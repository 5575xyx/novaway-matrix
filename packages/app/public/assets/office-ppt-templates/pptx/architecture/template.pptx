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146304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建筑档案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640080"/>
            <a:ext cx="2743200" cy="73152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914400"/>
            <a:ext cx="1828800" cy="73152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463040"/>
            <a:ext cx="2651760" cy="3017520"/>
          </a:xfrm>
          <a:prstGeom prst="rect">
            <a:avLst/>
          </a:prstGeom>
          <a:solidFill>
            <a:srgbClr val="F7F5F0"/>
          </a:solidFill>
          <a:ln w="12700">
            <a:solidFill>
              <a:srgbClr val="B7B1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真实模板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2468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F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807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原生可编辑 PPTX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路线 ROUTE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7863840" cy="3063240"/>
          </a:xfrm>
          <a:prstGeom prst="ellipse">
            <a:avLst/>
          </a:prstGeom>
          <a:solidFill>
            <a:srgbClr val="2F4858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783080"/>
            <a:ext cx="1097280" cy="502920"/>
          </a:xfrm>
          <a:prstGeom prst="ellipse">
            <a:avLst/>
          </a:prstGeom>
          <a:solidFill>
            <a:srgbClr val="F7F5F0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8379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2834640"/>
            <a:ext cx="1097280" cy="502920"/>
          </a:xfrm>
          <a:prstGeom prst="ellipse">
            <a:avLst/>
          </a:prstGeom>
          <a:solidFill>
            <a:srgbClr val="F7F5F0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8895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886200"/>
            <a:ext cx="1097280" cy="502920"/>
          </a:xfrm>
          <a:prstGeom prst="ellipse">
            <a:avLst/>
          </a:prstGeom>
          <a:solidFill>
            <a:srgbClr val="F7F5F0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9410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关键发现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834640"/>
            <a:ext cx="1097280" cy="502920"/>
          </a:xfrm>
          <a:prstGeom prst="ellipse">
            <a:avLst/>
          </a:prstGeom>
          <a:solidFill>
            <a:srgbClr val="F7F5F0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8895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行动建议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514600"/>
            <a:ext cx="822960" cy="822960"/>
          </a:xfrm>
          <a:prstGeom prst="ellipse">
            <a:avLst/>
          </a:prstGeom>
          <a:solidFill>
            <a:srgbClr val="2F4858"/>
          </a:solidFill>
          <a:ln/>
        </p:spPr>
      </p:sp>
      <p:sp>
        <p:nvSpPr>
          <p:cNvPr id="15" name="Text 13"/>
          <p:cNvSpPr/>
          <p:nvPr/>
        </p:nvSpPr>
        <p:spPr>
          <a:xfrm>
            <a:off x="4041648" y="26517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B7B1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926080" cy="2651760"/>
          </a:xfrm>
          <a:prstGeom prst="rect">
            <a:avLst/>
          </a:prstGeom>
          <a:solidFill>
            <a:srgbClr val="E8E5DE"/>
          </a:solidFill>
          <a:ln w="12700">
            <a:solidFill>
              <a:srgbClr val="B7B1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案例图片 / 项目现场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1554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77640" y="219456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关键观点二：用数据说明变化和差距。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关键观点三：给出下一步可执行动作。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B7B1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749040" cy="1097280"/>
          </a:xfrm>
          <a:prstGeom prst="rect">
            <a:avLst/>
          </a:prstGeom>
          <a:solidFill>
            <a:srgbClr val="2F4858">
              <a:alpha val="26000"/>
            </a:srgbClr>
          </a:solidFill>
          <a:ln w="12700">
            <a:solidFill>
              <a:srgbClr val="B7B1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现状：用一句量化现状。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749040" cy="1097280"/>
          </a:xfrm>
          <a:prstGeom prst="rect">
            <a:avLst/>
          </a:prstGeom>
          <a:solidFill>
            <a:srgbClr val="2F4858">
              <a:alpha val="26000"/>
            </a:srgbClr>
          </a:solidFill>
          <a:ln w="12700">
            <a:solidFill>
              <a:srgbClr val="B7B1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路径：说明推进节奏。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3749040" cy="1097280"/>
          </a:xfrm>
          <a:prstGeom prst="rect">
            <a:avLst/>
          </a:prstGeom>
          <a:solidFill>
            <a:srgbClr val="2F4858">
              <a:alpha val="26000"/>
            </a:srgbClr>
          </a:solidFill>
          <a:ln w="12700">
            <a:solidFill>
              <a:srgbClr val="B7B1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结果：突出可验收成果。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B7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研究方法：样本、来源、对照和显著性说明。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7498080" cy="2011680"/>
          </a:xfrm>
          <a:prstGeom prst="rect">
            <a:avLst/>
          </a:prstGeom>
          <a:solidFill>
            <a:srgbClr val="F7F5F0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营收：1.28 亿 → 1.64 亿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活跃用户：82 万 → 106 万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转化率：3.6% → 4.4%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B7B1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423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B7B1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1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建筑档案</dc:title>
  <dc:subject>中性石材色、细线网格和大画幅照片感构图，适合建筑、设计、文旅和空间项目。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