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0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057D6"/>
              </a:solidFill>
              <a:effectLst/>
            </c:spPr>
          </c:dPt>
          <c:dPt>
            <c:idx val="1"/>
            <c:bubble3D val="0"/>
            <c:spPr>
              <a:solidFill>
                <a:srgbClr val="2057D6"/>
              </a:solidFill>
              <a:effectLst/>
            </c:spPr>
          </c:dPt>
          <c:dPt>
            <c:idx val="2"/>
            <c:bubble3D val="0"/>
            <c:spPr>
              <a:solidFill>
                <a:srgbClr val="7D879C"/>
              </a:solidFill>
              <a:effectLst/>
            </c:spPr>
          </c:dPt>
          <c:dPt>
            <c:idx val="3"/>
            <c:bubble3D val="0"/>
            <c:spPr>
              <a:solidFill>
                <a:srgbClr val="FFF7F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转化</c:v>
                </c:pt>
                <c:pt idx="1">
                  <c:v>NPS</c:v>
                </c:pt>
                <c:pt idx="2">
                  <c:v>复购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34</c:v>
                </c:pt>
                <c:pt idx="1">
                  <c:v>52</c:v>
                </c:pt>
                <c:pt idx="2">
                  <c:v>28</c:v>
                </c:pt>
                <c:pt idx="3">
                  <c:v>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7D879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5C61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005840"/>
            <a:ext cx="3840480" cy="3840480"/>
          </a:xfrm>
          <a:prstGeom prst="ellipse">
            <a:avLst/>
          </a:prstGeom>
          <a:solidFill>
            <a:srgbClr val="2057D6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2926080"/>
            <a:ext cx="3200400" cy="3200400"/>
          </a:xfrm>
          <a:prstGeom prst="ellipse">
            <a:avLst/>
          </a:prstGeom>
          <a:solidFill>
            <a:srgbClr val="2057D6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STARTUP PITCH 融资路演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标题标题标题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34747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把核心结论写成一句话，让读者一眼看到这次汇报的价值。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343400"/>
            <a:ext cx="914400" cy="91440"/>
          </a:xfrm>
          <a:prstGeom prst="rect">
            <a:avLst/>
          </a:prstGeom>
          <a:solidFill>
            <a:srgbClr val="2057D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057D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问题 / 方案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FF5C61"/>
          </a:solidFill>
          <a:ln w="12700">
            <a:solidFill>
              <a:srgbClr val="7D87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83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3317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核心背景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2057D6">
              <a:alpha val="12000"/>
            </a:srgbClr>
          </a:solidFill>
          <a:ln w="12700">
            <a:solidFill>
              <a:srgbClr val="20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783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74920" y="23317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目标与方法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D87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057D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7589520" cy="45720"/>
          </a:xfrm>
          <a:prstGeom prst="rect">
            <a:avLst/>
          </a:prstGeom>
          <a:solidFill>
            <a:srgbClr val="2057D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关键观点一：先讲结论，再给支撑。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关键观点二：用数据说明变化和差距。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关键观点三：给出下一步可执行动作。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20640" y="164592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2057D6">
              <a:alpha val="12000"/>
            </a:srgbClr>
          </a:solidFill>
          <a:ln w="12700">
            <a:solidFill>
              <a:srgbClr val="2057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5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结论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24231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这里放一个必须被记住的核心判断。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D87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057D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FFF7F5"/>
          </a:solidFill>
          <a:ln w="12700">
            <a:solidFill>
              <a:srgbClr val="7D87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5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现状：用一句量化现状。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确定、可复用、成本可控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2057D6">
              <a:alpha val="12000"/>
            </a:srgbClr>
          </a:solidFill>
          <a:ln w="12700">
            <a:solidFill>
              <a:srgbClr val="2057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5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1188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路径：说明推进节奏。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灵活、扩展性强、需要验证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46304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FFF7F5"/>
          </a:solidFill>
          <a:ln w="12700">
            <a:solidFill>
              <a:srgbClr val="7D87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5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1792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结果：突出可验收成果。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快速验证、风险较高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D87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5C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057D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657600" cy="548640"/>
          </a:xfrm>
          <a:prstGeom prst="rect">
            <a:avLst/>
          </a:prstGeom>
          <a:solidFill>
            <a:srgbClr val="FFF7F5"/>
          </a:solidFill>
          <a:ln w="12700">
            <a:solidFill>
              <a:srgbClr val="7D87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核心指标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600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05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当前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221992"/>
            <a:ext cx="3657600" cy="548640"/>
          </a:xfrm>
          <a:prstGeom prst="rect">
            <a:avLst/>
          </a:prstGeom>
          <a:solidFill>
            <a:srgbClr val="FFF7F5"/>
          </a:solidFill>
          <a:ln w="9525">
            <a:solidFill>
              <a:srgbClr val="2057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134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转化率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3134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3134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05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4.4%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935224"/>
            <a:ext cx="3657600" cy="548640"/>
          </a:xfrm>
          <a:prstGeom prst="rect">
            <a:avLst/>
          </a:prstGeom>
          <a:solidFill>
            <a:srgbClr val="FFF7F5"/>
          </a:solidFill>
          <a:ln w="9525">
            <a:solidFill>
              <a:srgbClr val="2057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266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30266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302666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05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648456"/>
            <a:ext cx="3657600" cy="548640"/>
          </a:xfrm>
          <a:prstGeom prst="rect">
            <a:avLst/>
          </a:prstGeom>
          <a:solidFill>
            <a:srgbClr val="FFF7F5"/>
          </a:solidFill>
          <a:ln w="9525">
            <a:solidFill>
              <a:srgbClr val="205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398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复购率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73989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37398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05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34%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709160" y="146304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D879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5C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5C61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3291840"/>
            <a:ext cx="2926080" cy="2926080"/>
          </a:xfrm>
          <a:prstGeom prst="ellipse">
            <a:avLst/>
          </a:prstGeom>
          <a:solidFill>
            <a:srgbClr val="2057D6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916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D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谢谢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把关键结论和下一步行动再强调一次。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057D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下一步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D87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87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Pitch 融资路演</dc:title>
  <dc:subject>珊瑚蓝撞色、大字号主张和分栏故事线，适合创业融资、产品发布与增长提案。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