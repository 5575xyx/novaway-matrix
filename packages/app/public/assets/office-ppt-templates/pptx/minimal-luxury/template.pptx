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975B"/>
              </a:solidFill>
              <a:effectLst/>
            </c:spPr>
          </c:dPt>
          <c:dPt>
            <c:idx val="1"/>
            <c:bubble3D val="0"/>
            <c:spPr>
              <a:solidFill>
                <a:srgbClr val="B9975B"/>
              </a:solidFill>
              <a:effectLst/>
            </c:spPr>
          </c:dPt>
          <c:dPt>
            <c:idx val="2"/>
            <c:bubble3D val="0"/>
            <c:spPr>
              <a:solidFill>
                <a:srgbClr val="A9A197"/>
              </a:solidFill>
              <a:effectLst/>
            </c:spPr>
          </c:dPt>
          <c:dPt>
            <c:idx val="3"/>
            <c:bubble3D val="0"/>
            <c:spPr>
              <a:solidFill>
                <a:srgbClr val="FBF8F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转化</c:v>
                </c:pt>
                <c:pt idx="1">
                  <c:v>NPS</c:v>
                </c:pt>
                <c:pt idx="2">
                  <c:v>复购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34</c:v>
                </c:pt>
                <c:pt idx="1">
                  <c:v>52</c:v>
                </c:pt>
                <c:pt idx="2">
                  <c:v>28</c:v>
                </c:pt>
                <c:pt idx="3">
                  <c:v>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A9A19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9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Minimal Luxury 极简轻奢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54864" cy="2834640"/>
          </a:xfrm>
          <a:prstGeom prst="rect">
            <a:avLst/>
          </a:prstGeom>
          <a:solidFill>
            <a:srgbClr val="B9975B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55448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标题标题标题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01752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把核心结论写成一句话，让读者一眼看到这次汇报的价值。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0" y="4251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9975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目录与主线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" cy="420624"/>
          </a:xfrm>
          <a:prstGeom prst="rect">
            <a:avLst/>
          </a:prstGeom>
          <a:solidFill>
            <a:srgbClr val="B9975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9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41732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核心背景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1801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 1 部分的一句话说明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67128"/>
            <a:ext cx="73152" cy="420624"/>
          </a:xfrm>
          <a:prstGeom prst="rect">
            <a:avLst/>
          </a:prstGeom>
          <a:solidFill>
            <a:srgbClr val="B9975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6712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9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16712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目标与方法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83080" y="25511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 2 部分的一句话说明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16936"/>
            <a:ext cx="73152" cy="420624"/>
          </a:xfrm>
          <a:prstGeom prst="rect">
            <a:avLst/>
          </a:prstGeom>
          <a:solidFill>
            <a:srgbClr val="B9975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16936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9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2916936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关键发现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83080" y="33009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 3 部分的一句话说明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666744"/>
            <a:ext cx="73152" cy="420624"/>
          </a:xfrm>
          <a:prstGeom prst="rect">
            <a:avLst/>
          </a:prstGeom>
          <a:solidFill>
            <a:srgbClr val="B9975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66744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9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3666744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行动建议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83080" y="4050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 4 部分的一句话说明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A9A1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9975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7589520" cy="45720"/>
          </a:xfrm>
          <a:prstGeom prst="rect">
            <a:avLst/>
          </a:prstGeom>
          <a:solidFill>
            <a:srgbClr val="B997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关键观点一：先讲结论，再给支撑。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关键观点二：用数据说明变化和差距。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关键观点三：给出下一步可执行动作。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20640" y="164592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B9975B">
              <a:alpha val="12000"/>
            </a:srgbClr>
          </a:solidFill>
          <a:ln w="12700">
            <a:solidFill>
              <a:srgbClr val="B997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9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结论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24231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这里放一个必须被记住的核心判断。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A9A1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9975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2331720" cy="73152"/>
          </a:xfrm>
          <a:prstGeom prst="rect">
            <a:avLst/>
          </a:prstGeom>
          <a:solidFill>
            <a:srgbClr val="B9975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73352"/>
            <a:ext cx="2331720" cy="2240280"/>
          </a:xfrm>
          <a:prstGeom prst="rect">
            <a:avLst/>
          </a:prstGeom>
          <a:solidFill>
            <a:srgbClr val="FBF8F2"/>
          </a:solidFill>
          <a:ln w="12700">
            <a:solidFill>
              <a:srgbClr val="A9A1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现状：用一句量化现状。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价值主张一句话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1600200"/>
            <a:ext cx="2331720" cy="73152"/>
          </a:xfrm>
          <a:prstGeom prst="rect">
            <a:avLst/>
          </a:prstGeom>
          <a:solidFill>
            <a:srgbClr val="B9975B"/>
          </a:solidFill>
          <a:ln/>
        </p:spPr>
      </p:sp>
      <p:sp>
        <p:nvSpPr>
          <p:cNvPr id="10" name="Shape 8"/>
          <p:cNvSpPr/>
          <p:nvPr/>
        </p:nvSpPr>
        <p:spPr>
          <a:xfrm>
            <a:off x="3355848" y="1673352"/>
            <a:ext cx="2331720" cy="2240280"/>
          </a:xfrm>
          <a:prstGeom prst="rect">
            <a:avLst/>
          </a:prstGeom>
          <a:solidFill>
            <a:srgbClr val="FBF8F2"/>
          </a:solidFill>
          <a:ln w="12700">
            <a:solidFill>
              <a:srgbClr val="A9A1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路径：说明推进节奏。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84448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价值主张一句话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34456" y="1600200"/>
            <a:ext cx="2331720" cy="73152"/>
          </a:xfrm>
          <a:prstGeom prst="rect">
            <a:avLst/>
          </a:prstGeom>
          <a:solidFill>
            <a:srgbClr val="B9975B"/>
          </a:solidFill>
          <a:ln/>
        </p:spPr>
      </p:sp>
      <p:sp>
        <p:nvSpPr>
          <p:cNvPr id="14" name="Shape 12"/>
          <p:cNvSpPr/>
          <p:nvPr/>
        </p:nvSpPr>
        <p:spPr>
          <a:xfrm>
            <a:off x="5934456" y="1673352"/>
            <a:ext cx="2331720" cy="2240280"/>
          </a:xfrm>
          <a:prstGeom prst="rect">
            <a:avLst/>
          </a:prstGeom>
          <a:solidFill>
            <a:srgbClr val="FBF8F2"/>
          </a:solidFill>
          <a:ln w="12700">
            <a:solidFill>
              <a:srgbClr val="A9A1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结果：突出可验收成果。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63056" y="2880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价值主张一句话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A9A1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9975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657600" cy="548640"/>
          </a:xfrm>
          <a:prstGeom prst="rect">
            <a:avLst/>
          </a:prstGeom>
          <a:solidFill>
            <a:srgbClr val="FBF8F2"/>
          </a:solidFill>
          <a:ln w="12700">
            <a:solidFill>
              <a:srgbClr val="A9A1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核心指标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600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9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当前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221992"/>
            <a:ext cx="3657600" cy="548640"/>
          </a:xfrm>
          <a:prstGeom prst="rect">
            <a:avLst/>
          </a:prstGeom>
          <a:solidFill>
            <a:srgbClr val="FBF8F2"/>
          </a:solidFill>
          <a:ln w="9525">
            <a:solidFill>
              <a:srgbClr val="B997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134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转化率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3134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3134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9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4.4%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935224"/>
            <a:ext cx="3657600" cy="548640"/>
          </a:xfrm>
          <a:prstGeom prst="rect">
            <a:avLst/>
          </a:prstGeom>
          <a:solidFill>
            <a:srgbClr val="FBF8F2"/>
          </a:solidFill>
          <a:ln w="9525">
            <a:solidFill>
              <a:srgbClr val="B997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266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30266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302666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9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648456"/>
            <a:ext cx="3657600" cy="548640"/>
          </a:xfrm>
          <a:prstGeom prst="rect">
            <a:avLst/>
          </a:prstGeom>
          <a:solidFill>
            <a:srgbClr val="FBF8F2"/>
          </a:solidFill>
          <a:ln w="9525">
            <a:solidFill>
              <a:srgbClr val="B997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398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复购率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73989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37398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97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34%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709160" y="146304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A9A19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B997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1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谢谢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554480" y="3017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把关键结论和下一步行动再强调一次。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A9A1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1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 Luxury 极简轻奢</dc:title>
  <dc:subject>暖白、黑金与大量留白，适合品牌发布、高端路演和年度战略。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