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趋势</c:v>
                </c:pt>
              </c:strCache>
            </c:strRef>
          </c:tx>
          <c:spPr>
            <a:solidFill>
              <a:srgbClr val="9FE870"/>
            </a:solidFill>
            <a:ln w="25400" cap="flat">
              <a:solidFill>
                <a:srgbClr val="9FE87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FE870"/>
              </a:solidFill>
              <a:ln w="9525" cap="flat">
                <a:solidFill>
                  <a:srgbClr val="9FE87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72</c:v>
                </c:pt>
                <c:pt idx="1">
                  <c:v>78</c:v>
                </c:pt>
                <c:pt idx="2">
                  <c:v>84</c:v>
                </c:pt>
                <c:pt idx="3">
                  <c:v>91</c:v>
                </c:pt>
                <c:pt idx="4">
                  <c:v>88</c:v>
                </c:pt>
                <c:pt idx="5">
                  <c:v>95</c:v>
                </c:pt>
                <c:pt idx="6">
                  <c:v>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95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95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B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17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-1005840"/>
            <a:ext cx="3840480" cy="3840480"/>
          </a:xfrm>
          <a:prstGeom prst="ellipse">
            <a:avLst/>
          </a:prstGeom>
          <a:solidFill>
            <a:srgbClr val="9FE870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2926080"/>
            <a:ext cx="3200400" cy="3200400"/>
          </a:xfrm>
          <a:prstGeom prst="ellipse">
            <a:avLst/>
          </a:prstGeom>
          <a:solidFill>
            <a:srgbClr val="9FE870">
              <a:alpha val="3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OPS 智能运维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标题标题标题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34747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把核心结论写成一句话，让读者一眼看到这次汇报的价值。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343400"/>
            <a:ext cx="914400" cy="91440"/>
          </a:xfrm>
          <a:prstGeom prst="rect">
            <a:avLst/>
          </a:prstGeom>
          <a:solidFill>
            <a:srgbClr val="9FE87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B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9FE87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链路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111B25"/>
          </a:solidFill>
          <a:ln w="12700">
            <a:solidFill>
              <a:srgbClr val="9FE8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8483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核心背景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3055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E8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06040" y="18745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111B25"/>
          </a:solidFill>
          <a:ln w="12700">
            <a:solidFill>
              <a:srgbClr val="9FE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208483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目标与方法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4223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E8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17720" y="18745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111B25"/>
          </a:solidFill>
          <a:ln w="12700">
            <a:solidFill>
              <a:srgbClr val="9FE8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08483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关键发现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5391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E8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29400" y="18745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111B25"/>
          </a:solidFill>
          <a:ln w="12700">
            <a:solidFill>
              <a:srgbClr val="9FE8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08483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行动建议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154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→ PROCESS → OUTPUT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F95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B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9FE87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111B25"/>
          </a:solidFill>
          <a:ln w="12700">
            <a:solidFill>
              <a:srgbClr val="9FE8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2084832"/>
            <a:ext cx="365760" cy="365760"/>
          </a:xfrm>
          <a:prstGeom prst="ellipse">
            <a:avLst/>
          </a:prstGeom>
          <a:solidFill>
            <a:srgbClr val="9FE870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2578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关键观点一：先讲结论，再给支撑。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59152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E8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06040" y="18288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111B25"/>
          </a:solidFill>
          <a:ln w="12700">
            <a:solidFill>
              <a:srgbClr val="9FE8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2084832"/>
            <a:ext cx="365760" cy="365760"/>
          </a:xfrm>
          <a:prstGeom prst="ellipse">
            <a:avLst/>
          </a:prstGeom>
          <a:solidFill>
            <a:srgbClr val="9FE870"/>
          </a:solidFill>
          <a:ln/>
        </p:spPr>
      </p:sp>
      <p:sp>
        <p:nvSpPr>
          <p:cNvPr id="11" name="Text 9"/>
          <p:cNvSpPr/>
          <p:nvPr/>
        </p:nvSpPr>
        <p:spPr>
          <a:xfrm>
            <a:off x="2715768" y="2578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关键观点二：用数据说明变化和差距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79392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E8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26280" y="18288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111B25"/>
          </a:solidFill>
          <a:ln w="12700">
            <a:solidFill>
              <a:srgbClr val="9FE8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84648" y="2084832"/>
            <a:ext cx="365760" cy="365760"/>
          </a:xfrm>
          <a:prstGeom prst="ellipse">
            <a:avLst/>
          </a:prstGeom>
          <a:solidFill>
            <a:srgbClr val="9FE870"/>
          </a:solidFill>
          <a:ln/>
        </p:spPr>
      </p:sp>
      <p:sp>
        <p:nvSpPr>
          <p:cNvPr id="15" name="Text 13"/>
          <p:cNvSpPr/>
          <p:nvPr/>
        </p:nvSpPr>
        <p:spPr>
          <a:xfrm>
            <a:off x="4636008" y="2578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关键观点三：给出下一步可执行动作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F95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B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9FE87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要点卡片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05840" cy="594360"/>
          </a:xfrm>
          <a:prstGeom prst="roundRect">
            <a:avLst>
              <a:gd name="adj" fmla="val 9231"/>
            </a:avLst>
          </a:prstGeom>
          <a:solidFill>
            <a:srgbClr val="FFAD5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6420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B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6459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现状：用一句量化现状。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6642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恢复目标 30 分钟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1005840" cy="594360"/>
          </a:xfrm>
          <a:prstGeom prst="roundRect">
            <a:avLst>
              <a:gd name="adj" fmla="val 9231"/>
            </a:avLst>
          </a:prstGeom>
          <a:solidFill>
            <a:srgbClr val="9FE8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871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B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24688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路径：说明推进节奏。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4871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恢复目标 4 小时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200400"/>
            <a:ext cx="1005840" cy="594360"/>
          </a:xfrm>
          <a:prstGeom prst="roundRect">
            <a:avLst>
              <a:gd name="adj" fmla="val 9231"/>
            </a:avLst>
          </a:prstGeom>
          <a:solidFill>
            <a:srgbClr val="9FE87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101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B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3291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结果：突出可验收成果。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33101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恢复目标 24 小时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F95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9FE87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数据与证据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463040"/>
            <a:ext cx="3703320" cy="914400"/>
          </a:xfrm>
          <a:prstGeom prst="roundRect">
            <a:avLst>
              <a:gd name="adj" fmla="val 7000"/>
            </a:avLst>
          </a:prstGeom>
          <a:solidFill>
            <a:srgbClr val="111B25"/>
          </a:solidFill>
          <a:ln w="12700">
            <a:solidFill>
              <a:srgbClr val="9FE8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72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成功率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9019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92.4%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108960" y="19385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FE8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↑ 3.2pt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703320" cy="914400"/>
          </a:xfrm>
          <a:prstGeom prst="roundRect">
            <a:avLst>
              <a:gd name="adj" fmla="val 7000"/>
            </a:avLst>
          </a:prstGeom>
          <a:solidFill>
            <a:srgbClr val="111B25"/>
          </a:solidFill>
          <a:ln w="12700">
            <a:solidFill>
              <a:srgbClr val="9FE8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572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P95 延迟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9019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4.8s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86600" y="19385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FE8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18%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606040"/>
            <a:ext cx="3703320" cy="914400"/>
          </a:xfrm>
          <a:prstGeom prst="roundRect">
            <a:avLst>
              <a:gd name="adj" fmla="val 7000"/>
            </a:avLst>
          </a:prstGeom>
          <a:solidFill>
            <a:srgbClr val="111B25"/>
          </a:solidFill>
          <a:ln w="12700">
            <a:solidFill>
              <a:srgbClr val="9FE8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15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单次成本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0449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¥0.42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108960" y="30815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FE8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22%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3703320" cy="914400"/>
          </a:xfrm>
          <a:prstGeom prst="roundRect">
            <a:avLst>
              <a:gd name="adj" fmla="val 7000"/>
            </a:avLst>
          </a:prstGeom>
          <a:solidFill>
            <a:srgbClr val="111B25"/>
          </a:solidFill>
          <a:ln w="12700">
            <a:solidFill>
              <a:srgbClr val="9FE8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715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可靠性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0449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086600" y="30815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FE8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22960" y="3566160"/>
          <a:ext cx="7498080" cy="1097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F95A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17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0" y="3291840"/>
            <a:ext cx="2926080" cy="2926080"/>
          </a:xfrm>
          <a:prstGeom prst="ellipse">
            <a:avLst/>
          </a:prstGeom>
          <a:solidFill>
            <a:srgbClr val="9FE870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9164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谢谢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把关键结论和下一步行动再强调一次。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9FE870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114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B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下一步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F95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95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Ops 智能运维</dc:title>
  <dc:subject>深空灰、青绿链路节点和自动化流程，适合基础设施、AI Agent 和数字化转型。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