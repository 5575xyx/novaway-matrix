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slideLayout" Target="../slideLayouts/slideLayout1.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image" Target="../media/image-4-11.png"/><Relationship Id="rId12" Type="http://schemas.openxmlformats.org/officeDocument/2006/relationships/image" Target="../media/image-4-12.svg"/><Relationship Id="rId13" Type="http://schemas.openxmlformats.org/officeDocument/2006/relationships/slideLayout" Target="../slideLayouts/slideLayout1.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svg"/><Relationship Id="rId8" Type="http://schemas.openxmlformats.org/officeDocument/2006/relationships/image" Target="../media/image-6-8.png"/><Relationship Id="rId9" Type="http://schemas.openxmlformats.org/officeDocument/2006/relationships/image" Target="../media/image-6-9.sv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
        <p:nvSpPr>
          <p:cNvPr id="4" name="Text 1"/>
          <p:cNvSpPr/>
          <p:nvPr/>
        </p:nvSpPr>
        <p:spPr>
          <a:xfrm>
            <a:off x="285750" y="1540259"/>
            <a:ext cx="2163217" cy="457200"/>
          </a:xfrm>
          <a:prstGeom prst="rect">
            <a:avLst/>
          </a:prstGeom>
          <a:noFill/>
          <a:ln/>
        </p:spPr>
        <p:txBody>
          <a:bodyPr wrap="none" rtlCol="0" anchor="ctr"/>
          <a:lstStyle/>
          <a:p>
            <a:pPr algn="l" indent="0" marL="0">
              <a:lnSpc>
                <a:spcPct val="80000"/>
              </a:lnSpc>
              <a:buNone/>
            </a:pPr>
            <a:r>
              <a:rPr lang="en-US" sz="2700" b="1" dirty="0">
                <a:solidFill>
                  <a:srgbClr val="1E4CD9"/>
                </a:solidFill>
                <a:latin typeface="Montserrat" pitchFamily="34" charset="0"/>
                <a:ea typeface="Montserrat" pitchFamily="34" charset="-122"/>
                <a:cs typeface="Montserrat" pitchFamily="34" charset="-120"/>
              </a:rPr>
              <a:t>Pitch Deck</a:t>
            </a:r>
            <a:endParaRPr lang="en-US" sz="270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 y="2004603"/>
            <a:ext cx="979252" cy="28575"/>
          </a:xfrm>
          <a:prstGeom prst="rect">
            <a:avLst/>
          </a:prstGeom>
        </p:spPr>
      </p:pic>
      <p:sp>
        <p:nvSpPr>
          <p:cNvPr id="6" name="Text 2"/>
          <p:cNvSpPr/>
          <p:nvPr/>
        </p:nvSpPr>
        <p:spPr>
          <a:xfrm>
            <a:off x="285750" y="2140334"/>
            <a:ext cx="4438930" cy="505644"/>
          </a:xfrm>
          <a:prstGeom prst="rect">
            <a:avLst/>
          </a:prstGeom>
          <a:noFill/>
          <a:ln/>
        </p:spPr>
        <p:txBody>
          <a:bodyPr wrap="square" rtlCol="0" anchor="ctr"/>
          <a:lstStyle/>
          <a:p>
            <a:pPr algn="l" indent="0" marL="0">
              <a:lnSpc>
                <a:spcPct val="130000"/>
              </a:lnSpc>
              <a:buNone/>
            </a:pPr>
            <a:r>
              <a:rPr lang="en-US" sz="1013" dirty="0">
                <a:solidFill>
                  <a:srgbClr val="234CD9"/>
                </a:solidFill>
                <a:latin typeface="Montserrat" pitchFamily="34" charset="0"/>
                <a:ea typeface="Montserrat" pitchFamily="34" charset="-122"/>
                <a:cs typeface="Montserrat" pitchFamily="34" charset="-120"/>
              </a:rPr>
              <a:t>Add a short subtitle or description here. Add a short subtitle or description here. Add a short subtitle or description here. Add a short subtitle or description here.</a:t>
            </a:r>
            <a:endParaRPr lang="en-US" sz="1013" dirty="0"/>
          </a:p>
        </p:txBody>
      </p:sp>
      <p:sp>
        <p:nvSpPr>
          <p:cNvPr id="7" name="Shape 3"/>
          <p:cNvSpPr/>
          <p:nvPr/>
        </p:nvSpPr>
        <p:spPr>
          <a:xfrm>
            <a:off x="285750" y="3171713"/>
            <a:ext cx="2656582" cy="564356"/>
          </a:xfrm>
          <a:prstGeom prst="roundRect">
            <a:avLst>
              <a:gd name="adj" fmla="val 15000"/>
            </a:avLst>
          </a:prstGeom>
          <a:solidFill>
            <a:srgbClr val="FFFFFF"/>
          </a:solidFill>
          <a:ln w="7144">
            <a:solidFill>
              <a:srgbClr val="E5E7EB"/>
            </a:solidFill>
            <a:prstDash val="solid"/>
          </a:ln>
          <a:effectLst>
            <a:outerShdw sx="100000" sy="100000" kx="0" ky="0" algn="bl" rotWithShape="0" blurRad="19050" dist="9525" dir="16200000">
              <a:srgbClr val="000000">
                <a:alpha val="3000"/>
              </a:srgbClr>
            </a:outerShdw>
          </a:effectLst>
        </p:spPr>
      </p:sp>
      <p:sp>
        <p:nvSpPr>
          <p:cNvPr id="8" name="Shape 4"/>
          <p:cNvSpPr/>
          <p:nvPr/>
        </p:nvSpPr>
        <p:spPr>
          <a:xfrm>
            <a:off x="442913" y="3311017"/>
            <a:ext cx="300038" cy="285750"/>
          </a:xfrm>
          <a:prstGeom prst="roundRect">
            <a:avLst>
              <a:gd name="adj" fmla="val 15000"/>
            </a:avLst>
          </a:prstGeom>
          <a:solidFill>
            <a:srgbClr val="F5F8FE"/>
          </a:solidFill>
          <a:ln/>
        </p:spPr>
      </p:sp>
      <p:sp>
        <p:nvSpPr>
          <p:cNvPr id="9" name="Text 5"/>
          <p:cNvSpPr/>
          <p:nvPr/>
        </p:nvSpPr>
        <p:spPr>
          <a:xfrm>
            <a:off x="529754" y="3382566"/>
            <a:ext cx="240030" cy="135731"/>
          </a:xfrm>
          <a:prstGeom prst="rect">
            <a:avLst/>
          </a:prstGeom>
          <a:noFill/>
          <a:ln/>
        </p:spPr>
        <p:txBody>
          <a:bodyPr wrap="none" rtlCol="0" anchor="ctr"/>
          <a:lstStyle/>
          <a:p>
            <a:pPr algn="ctr" indent="0" marL="0">
              <a:lnSpc>
                <a:spcPct val="114000"/>
              </a:lnSpc>
              <a:buNone/>
            </a:pPr>
            <a:r>
              <a:rPr lang="en-US" sz="788" b="1" dirty="0">
                <a:solidFill>
                  <a:srgbClr val="234CD9"/>
                </a:solidFill>
                <a:latin typeface="Montserrat" pitchFamily="34" charset="0"/>
                <a:ea typeface="Montserrat" pitchFamily="34" charset="-122"/>
                <a:cs typeface="Montserrat" pitchFamily="34" charset="-120"/>
              </a:rPr>
              <a:t>JD</a:t>
            </a:r>
            <a:endParaRPr lang="en-US" sz="788" dirty="0"/>
          </a:p>
        </p:txBody>
      </p:sp>
      <p:sp>
        <p:nvSpPr>
          <p:cNvPr id="10" name="Text 6"/>
          <p:cNvSpPr/>
          <p:nvPr/>
        </p:nvSpPr>
        <p:spPr>
          <a:xfrm>
            <a:off x="842963" y="3285679"/>
            <a:ext cx="631441" cy="150019"/>
          </a:xfrm>
          <a:prstGeom prst="rect">
            <a:avLst/>
          </a:prstGeom>
          <a:noFill/>
          <a:ln/>
        </p:spPr>
        <p:txBody>
          <a:bodyPr wrap="none" rtlCol="0" anchor="ctr"/>
          <a:lstStyle/>
          <a:p>
            <a:pPr algn="l" indent="0" marL="0">
              <a:lnSpc>
                <a:spcPct val="120000"/>
              </a:lnSpc>
              <a:buNone/>
            </a:pPr>
            <a:r>
              <a:rPr lang="en-US" sz="900" dirty="0">
                <a:solidFill>
                  <a:srgbClr val="234CD9"/>
                </a:solidFill>
                <a:latin typeface="Montserrat" pitchFamily="34" charset="0"/>
                <a:ea typeface="Montserrat" pitchFamily="34" charset="-122"/>
                <a:cs typeface="Montserrat" pitchFamily="34" charset="-120"/>
              </a:rPr>
              <a:t>John Doe</a:t>
            </a:r>
            <a:endParaRPr lang="en-US" sz="900" dirty="0"/>
          </a:p>
        </p:txBody>
      </p:sp>
      <p:sp>
        <p:nvSpPr>
          <p:cNvPr id="11" name="Text 7"/>
          <p:cNvSpPr/>
          <p:nvPr/>
        </p:nvSpPr>
        <p:spPr>
          <a:xfrm>
            <a:off x="842963" y="3449985"/>
            <a:ext cx="856580" cy="135731"/>
          </a:xfrm>
          <a:prstGeom prst="rect">
            <a:avLst/>
          </a:prstGeom>
          <a:noFill/>
          <a:ln/>
        </p:spPr>
        <p:txBody>
          <a:bodyPr wrap="none" rtlCol="0" anchor="ctr"/>
          <a:lstStyle/>
          <a:p>
            <a:pPr algn="l" indent="0" marL="0">
              <a:lnSpc>
                <a:spcPct val="120000"/>
              </a:lnSpc>
              <a:buNone/>
            </a:pPr>
            <a:r>
              <a:rPr lang="en-US" sz="788" dirty="0">
                <a:solidFill>
                  <a:srgbClr val="234CD9"/>
                </a:solidFill>
                <a:latin typeface="Montserrat" pitchFamily="34" charset="0"/>
                <a:ea typeface="Montserrat" pitchFamily="34" charset="-122"/>
                <a:cs typeface="Montserrat" pitchFamily="34" charset="-120"/>
              </a:rPr>
              <a:t>December 2025</a:t>
            </a:r>
            <a:endParaRPr lang="en-US" sz="788" dirty="0"/>
          </a:p>
        </p:txBody>
      </p:sp>
      <p:pic>
        <p:nvPicPr>
          <p:cNvPr id="12" name="Image 2" descr="E:\AImoney\NovaWay-Matrix\novaway-coder\.tmp\presenton-pptx-deck\modern\assets\images\replaceable_template_image.png">    </p:cNvPr>
          <p:cNvPicPr>
            <a:picLocks noChangeAspect="1"/>
          </p:cNvPicPr>
          <p:nvPr/>
        </p:nvPicPr>
        <p:blipFill>
          <a:blip r:embed="rId5"/>
          <a:srcRect l="24460" r="24460" t="0" b="0"/>
          <a:stretch/>
        </p:blipFill>
        <p:spPr>
          <a:xfrm>
            <a:off x="5017815" y="457200"/>
            <a:ext cx="3840324" cy="4229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
        <p:nvSpPr>
          <p:cNvPr id="4" name="Text 1"/>
          <p:cNvSpPr/>
          <p:nvPr/>
        </p:nvSpPr>
        <p:spPr>
          <a:xfrm>
            <a:off x="457200" y="557213"/>
            <a:ext cx="3455682" cy="457200"/>
          </a:xfrm>
          <a:prstGeom prst="rect">
            <a:avLst/>
          </a:prstGeom>
          <a:noFill/>
          <a:ln/>
        </p:spPr>
        <p:txBody>
          <a:bodyPr wrap="none" rtlCol="0" anchor="ctr"/>
          <a:lstStyle/>
          <a:p>
            <a:pPr algn="l" indent="0" marL="0">
              <a:lnSpc>
                <a:spcPct val="100000"/>
              </a:lnSpc>
              <a:buNone/>
            </a:pPr>
            <a:r>
              <a:rPr lang="en-US" sz="2700" b="1" dirty="0">
                <a:solidFill>
                  <a:srgbClr val="234CD9"/>
                </a:solidFill>
                <a:latin typeface="Montserrat" pitchFamily="34" charset="0"/>
                <a:ea typeface="Montserrat" pitchFamily="34" charset="-122"/>
                <a:cs typeface="Montserrat" pitchFamily="34" charset="-120"/>
              </a:rPr>
              <a:t>Table Of Contents</a:t>
            </a:r>
            <a:endParaRPr lang="en-US" sz="2700" dirty="0"/>
          </a:p>
        </p:txBody>
      </p:sp>
      <p:sp>
        <p:nvSpPr>
          <p:cNvPr id="5" name="Shape 2"/>
          <p:cNvSpPr/>
          <p:nvPr/>
        </p:nvSpPr>
        <p:spPr>
          <a:xfrm>
            <a:off x="457200" y="1440024"/>
            <a:ext cx="285750" cy="285750"/>
          </a:xfrm>
          <a:prstGeom prst="roundRect">
            <a:avLst>
              <a:gd name="adj" fmla="val 15000"/>
            </a:avLst>
          </a:prstGeom>
          <a:solidFill>
            <a:srgbClr val="1E4CD9"/>
          </a:solidFill>
          <a:ln/>
        </p:spPr>
      </p:sp>
      <p:sp>
        <p:nvSpPr>
          <p:cNvPr id="6" name="Text 3"/>
          <p:cNvSpPr/>
          <p:nvPr/>
        </p:nvSpPr>
        <p:spPr>
          <a:xfrm>
            <a:off x="564803" y="1507220"/>
            <a:ext cx="194310" cy="150019"/>
          </a:xfrm>
          <a:prstGeom prst="rect">
            <a:avLst/>
          </a:prstGeom>
          <a:noFill/>
          <a:ln/>
        </p:spPr>
        <p:txBody>
          <a:bodyPr wrap="none" rtlCol="0" anchor="ctr"/>
          <a:lstStyle/>
          <a:p>
            <a:pPr algn="ctr" indent="0" marL="0">
              <a:lnSpc>
                <a:spcPct val="120000"/>
              </a:lnSpc>
              <a:buNone/>
            </a:pPr>
            <a:r>
              <a:rPr lang="en-US" sz="900" b="1" dirty="0">
                <a:solidFill>
                  <a:srgbClr val="FFFFFF"/>
                </a:solidFill>
                <a:latin typeface="Montserrat" pitchFamily="34" charset="0"/>
                <a:ea typeface="Montserrat" pitchFamily="34" charset="-122"/>
                <a:cs typeface="Montserrat" pitchFamily="34" charset="-120"/>
              </a:rPr>
              <a:t>1</a:t>
            </a:r>
            <a:endParaRPr lang="en-US" sz="900" dirty="0"/>
          </a:p>
        </p:txBody>
      </p:sp>
      <p:sp>
        <p:nvSpPr>
          <p:cNvPr id="7" name="Shape 4"/>
          <p:cNvSpPr/>
          <p:nvPr/>
        </p:nvSpPr>
        <p:spPr>
          <a:xfrm>
            <a:off x="857250" y="1440024"/>
            <a:ext cx="3571875" cy="562570"/>
          </a:xfrm>
          <a:prstGeom prst="roundRect">
            <a:avLst>
              <a:gd name="adj" fmla="val 14997"/>
            </a:avLst>
          </a:prstGeom>
          <a:solidFill>
            <a:srgbClr val="F5F8FE"/>
          </a:solidFill>
          <a:ln/>
        </p:spPr>
      </p:sp>
      <p:sp>
        <p:nvSpPr>
          <p:cNvPr id="8" name="Text 5"/>
          <p:cNvSpPr/>
          <p:nvPr/>
        </p:nvSpPr>
        <p:spPr>
          <a:xfrm>
            <a:off x="942975" y="1518605"/>
            <a:ext cx="696850" cy="171450"/>
          </a:xfrm>
          <a:prstGeom prst="rect">
            <a:avLst/>
          </a:prstGeom>
          <a:noFill/>
          <a:ln/>
        </p:spPr>
        <p:txBody>
          <a:bodyPr wrap="none" rtlCol="0" anchor="ctr"/>
          <a:lstStyle/>
          <a:p>
            <a:pPr algn="l" indent="0" marL="0">
              <a:lnSpc>
                <a:spcPct val="124000"/>
              </a:lnSpc>
              <a:buNone/>
            </a:pPr>
            <a:r>
              <a:rPr lang="en-US" sz="1013" dirty="0">
                <a:solidFill>
                  <a:srgbClr val="1E4CD9"/>
                </a:solidFill>
                <a:latin typeface="Montserrat" pitchFamily="34" charset="0"/>
                <a:ea typeface="Montserrat" pitchFamily="34" charset="-122"/>
                <a:cs typeface="Montserrat" pitchFamily="34" charset="-120"/>
              </a:rPr>
              <a:t>Section 1</a:t>
            </a:r>
            <a:endParaRPr lang="en-US" sz="1013" dirty="0"/>
          </a:p>
        </p:txBody>
      </p:sp>
      <p:sp>
        <p:nvSpPr>
          <p:cNvPr id="9" name="Text 6"/>
          <p:cNvSpPr/>
          <p:nvPr/>
        </p:nvSpPr>
        <p:spPr>
          <a:xfrm>
            <a:off x="942975" y="1747205"/>
            <a:ext cx="1732467" cy="135731"/>
          </a:xfrm>
          <a:prstGeom prst="rect">
            <a:avLst/>
          </a:prstGeom>
          <a:noFill/>
          <a:ln/>
        </p:spPr>
        <p:txBody>
          <a:bodyPr wrap="none" rtlCol="0" anchor="ctr"/>
          <a:lstStyle/>
          <a:p>
            <a:pPr algn="l" indent="0" marL="0">
              <a:lnSpc>
                <a:spcPct val="130000"/>
              </a:lnSpc>
              <a:buNone/>
            </a:pPr>
            <a:r>
              <a:rPr lang="en-US" sz="788" dirty="0">
                <a:solidFill>
                  <a:srgbClr val="234CD9"/>
                </a:solidFill>
                <a:latin typeface="Montserrat" pitchFamily="34" charset="0"/>
                <a:ea typeface="Montserrat" pitchFamily="34" charset="-122"/>
                <a:cs typeface="Montserrat" pitchFamily="34" charset="-120"/>
              </a:rPr>
              <a:t>Brief description for this section.</a:t>
            </a:r>
            <a:endParaRPr lang="en-US" sz="788" dirty="0"/>
          </a:p>
        </p:txBody>
      </p:sp>
      <p:sp>
        <p:nvSpPr>
          <p:cNvPr id="10" name="Shape 7"/>
          <p:cNvSpPr/>
          <p:nvPr/>
        </p:nvSpPr>
        <p:spPr>
          <a:xfrm>
            <a:off x="4714875" y="1440024"/>
            <a:ext cx="285750" cy="285750"/>
          </a:xfrm>
          <a:prstGeom prst="roundRect">
            <a:avLst>
              <a:gd name="adj" fmla="val 15000"/>
            </a:avLst>
          </a:prstGeom>
          <a:solidFill>
            <a:srgbClr val="1E4CD9"/>
          </a:solidFill>
          <a:ln/>
        </p:spPr>
      </p:sp>
      <p:sp>
        <p:nvSpPr>
          <p:cNvPr id="11" name="Text 8"/>
          <p:cNvSpPr/>
          <p:nvPr/>
        </p:nvSpPr>
        <p:spPr>
          <a:xfrm>
            <a:off x="4822478" y="1507220"/>
            <a:ext cx="194310" cy="150019"/>
          </a:xfrm>
          <a:prstGeom prst="rect">
            <a:avLst/>
          </a:prstGeom>
          <a:noFill/>
          <a:ln/>
        </p:spPr>
        <p:txBody>
          <a:bodyPr wrap="none" rtlCol="0" anchor="ctr"/>
          <a:lstStyle/>
          <a:p>
            <a:pPr algn="ctr" indent="0" marL="0">
              <a:lnSpc>
                <a:spcPct val="120000"/>
              </a:lnSpc>
              <a:buNone/>
            </a:pPr>
            <a:r>
              <a:rPr lang="en-US" sz="900" b="1" dirty="0">
                <a:solidFill>
                  <a:srgbClr val="FFFFFF"/>
                </a:solidFill>
                <a:latin typeface="Montserrat" pitchFamily="34" charset="0"/>
                <a:ea typeface="Montserrat" pitchFamily="34" charset="-122"/>
                <a:cs typeface="Montserrat" pitchFamily="34" charset="-120"/>
              </a:rPr>
              <a:t>2</a:t>
            </a:r>
            <a:endParaRPr lang="en-US" sz="900" dirty="0"/>
          </a:p>
        </p:txBody>
      </p:sp>
      <p:sp>
        <p:nvSpPr>
          <p:cNvPr id="12" name="Shape 9"/>
          <p:cNvSpPr/>
          <p:nvPr/>
        </p:nvSpPr>
        <p:spPr>
          <a:xfrm>
            <a:off x="5114925" y="1440024"/>
            <a:ext cx="3571875" cy="562570"/>
          </a:xfrm>
          <a:prstGeom prst="roundRect">
            <a:avLst>
              <a:gd name="adj" fmla="val 14997"/>
            </a:avLst>
          </a:prstGeom>
          <a:solidFill>
            <a:srgbClr val="F5F8FE"/>
          </a:solidFill>
          <a:ln/>
        </p:spPr>
      </p:sp>
      <p:sp>
        <p:nvSpPr>
          <p:cNvPr id="13" name="Text 10"/>
          <p:cNvSpPr/>
          <p:nvPr/>
        </p:nvSpPr>
        <p:spPr>
          <a:xfrm>
            <a:off x="5200650" y="1518605"/>
            <a:ext cx="696850" cy="171450"/>
          </a:xfrm>
          <a:prstGeom prst="rect">
            <a:avLst/>
          </a:prstGeom>
          <a:noFill/>
          <a:ln/>
        </p:spPr>
        <p:txBody>
          <a:bodyPr wrap="none" rtlCol="0" anchor="ctr"/>
          <a:lstStyle/>
          <a:p>
            <a:pPr algn="l" indent="0" marL="0">
              <a:lnSpc>
                <a:spcPct val="124000"/>
              </a:lnSpc>
              <a:buNone/>
            </a:pPr>
            <a:r>
              <a:rPr lang="en-US" sz="1013" dirty="0">
                <a:solidFill>
                  <a:srgbClr val="1E4CD9"/>
                </a:solidFill>
                <a:latin typeface="Montserrat" pitchFamily="34" charset="0"/>
                <a:ea typeface="Montserrat" pitchFamily="34" charset="-122"/>
                <a:cs typeface="Montserrat" pitchFamily="34" charset="-120"/>
              </a:rPr>
              <a:t>Section 2</a:t>
            </a:r>
            <a:endParaRPr lang="en-US" sz="1013" dirty="0"/>
          </a:p>
        </p:txBody>
      </p:sp>
      <p:sp>
        <p:nvSpPr>
          <p:cNvPr id="14" name="Text 11"/>
          <p:cNvSpPr/>
          <p:nvPr/>
        </p:nvSpPr>
        <p:spPr>
          <a:xfrm>
            <a:off x="5200650" y="1747205"/>
            <a:ext cx="1732467" cy="135731"/>
          </a:xfrm>
          <a:prstGeom prst="rect">
            <a:avLst/>
          </a:prstGeom>
          <a:noFill/>
          <a:ln/>
        </p:spPr>
        <p:txBody>
          <a:bodyPr wrap="none" rtlCol="0" anchor="ctr"/>
          <a:lstStyle/>
          <a:p>
            <a:pPr algn="l" indent="0" marL="0">
              <a:lnSpc>
                <a:spcPct val="130000"/>
              </a:lnSpc>
              <a:buNone/>
            </a:pPr>
            <a:r>
              <a:rPr lang="en-US" sz="788" dirty="0">
                <a:solidFill>
                  <a:srgbClr val="234CD9"/>
                </a:solidFill>
                <a:latin typeface="Montserrat" pitchFamily="34" charset="0"/>
                <a:ea typeface="Montserrat" pitchFamily="34" charset="-122"/>
                <a:cs typeface="Montserrat" pitchFamily="34" charset="-120"/>
              </a:rPr>
              <a:t>Brief description for this section.</a:t>
            </a:r>
            <a:endParaRPr lang="en-US" sz="788" dirty="0"/>
          </a:p>
        </p:txBody>
      </p:sp>
      <p:sp>
        <p:nvSpPr>
          <p:cNvPr id="15" name="Shape 12"/>
          <p:cNvSpPr/>
          <p:nvPr/>
        </p:nvSpPr>
        <p:spPr>
          <a:xfrm>
            <a:off x="457200" y="2145469"/>
            <a:ext cx="285750" cy="285750"/>
          </a:xfrm>
          <a:prstGeom prst="roundRect">
            <a:avLst>
              <a:gd name="adj" fmla="val 15000"/>
            </a:avLst>
          </a:prstGeom>
          <a:solidFill>
            <a:srgbClr val="1E4CD9"/>
          </a:solidFill>
          <a:ln/>
        </p:spPr>
      </p:sp>
      <p:sp>
        <p:nvSpPr>
          <p:cNvPr id="16" name="Text 13"/>
          <p:cNvSpPr/>
          <p:nvPr/>
        </p:nvSpPr>
        <p:spPr>
          <a:xfrm>
            <a:off x="564803" y="2212665"/>
            <a:ext cx="194310" cy="150019"/>
          </a:xfrm>
          <a:prstGeom prst="rect">
            <a:avLst/>
          </a:prstGeom>
          <a:noFill/>
          <a:ln/>
        </p:spPr>
        <p:txBody>
          <a:bodyPr wrap="none" rtlCol="0" anchor="ctr"/>
          <a:lstStyle/>
          <a:p>
            <a:pPr algn="ctr" indent="0" marL="0">
              <a:lnSpc>
                <a:spcPct val="120000"/>
              </a:lnSpc>
              <a:buNone/>
            </a:pPr>
            <a:r>
              <a:rPr lang="en-US" sz="900" b="1" dirty="0">
                <a:solidFill>
                  <a:srgbClr val="FFFFFF"/>
                </a:solidFill>
                <a:latin typeface="Montserrat" pitchFamily="34" charset="0"/>
                <a:ea typeface="Montserrat" pitchFamily="34" charset="-122"/>
                <a:cs typeface="Montserrat" pitchFamily="34" charset="-120"/>
              </a:rPr>
              <a:t>3</a:t>
            </a:r>
            <a:endParaRPr lang="en-US" sz="900" dirty="0"/>
          </a:p>
        </p:txBody>
      </p:sp>
      <p:sp>
        <p:nvSpPr>
          <p:cNvPr id="17" name="Shape 14"/>
          <p:cNvSpPr/>
          <p:nvPr/>
        </p:nvSpPr>
        <p:spPr>
          <a:xfrm>
            <a:off x="857250" y="2145469"/>
            <a:ext cx="3571875" cy="562570"/>
          </a:xfrm>
          <a:prstGeom prst="roundRect">
            <a:avLst>
              <a:gd name="adj" fmla="val 14997"/>
            </a:avLst>
          </a:prstGeom>
          <a:solidFill>
            <a:srgbClr val="F5F8FE"/>
          </a:solidFill>
          <a:ln/>
        </p:spPr>
      </p:sp>
      <p:sp>
        <p:nvSpPr>
          <p:cNvPr id="18" name="Text 15"/>
          <p:cNvSpPr/>
          <p:nvPr/>
        </p:nvSpPr>
        <p:spPr>
          <a:xfrm>
            <a:off x="942975" y="2224050"/>
            <a:ext cx="696850" cy="171450"/>
          </a:xfrm>
          <a:prstGeom prst="rect">
            <a:avLst/>
          </a:prstGeom>
          <a:noFill/>
          <a:ln/>
        </p:spPr>
        <p:txBody>
          <a:bodyPr wrap="none" rtlCol="0" anchor="ctr"/>
          <a:lstStyle/>
          <a:p>
            <a:pPr algn="l" indent="0" marL="0">
              <a:lnSpc>
                <a:spcPct val="124000"/>
              </a:lnSpc>
              <a:buNone/>
            </a:pPr>
            <a:r>
              <a:rPr lang="en-US" sz="1013" dirty="0">
                <a:solidFill>
                  <a:srgbClr val="1E4CD9"/>
                </a:solidFill>
                <a:latin typeface="Montserrat" pitchFamily="34" charset="0"/>
                <a:ea typeface="Montserrat" pitchFamily="34" charset="-122"/>
                <a:cs typeface="Montserrat" pitchFamily="34" charset="-120"/>
              </a:rPr>
              <a:t>Section 3</a:t>
            </a:r>
            <a:endParaRPr lang="en-US" sz="1013" dirty="0"/>
          </a:p>
        </p:txBody>
      </p:sp>
      <p:sp>
        <p:nvSpPr>
          <p:cNvPr id="19" name="Text 16"/>
          <p:cNvSpPr/>
          <p:nvPr/>
        </p:nvSpPr>
        <p:spPr>
          <a:xfrm>
            <a:off x="942975" y="2452650"/>
            <a:ext cx="1732467" cy="135731"/>
          </a:xfrm>
          <a:prstGeom prst="rect">
            <a:avLst/>
          </a:prstGeom>
          <a:noFill/>
          <a:ln/>
        </p:spPr>
        <p:txBody>
          <a:bodyPr wrap="none" rtlCol="0" anchor="ctr"/>
          <a:lstStyle/>
          <a:p>
            <a:pPr algn="l" indent="0" marL="0">
              <a:lnSpc>
                <a:spcPct val="130000"/>
              </a:lnSpc>
              <a:buNone/>
            </a:pPr>
            <a:r>
              <a:rPr lang="en-US" sz="788" dirty="0">
                <a:solidFill>
                  <a:srgbClr val="234CD9"/>
                </a:solidFill>
                <a:latin typeface="Montserrat" pitchFamily="34" charset="0"/>
                <a:ea typeface="Montserrat" pitchFamily="34" charset="-122"/>
                <a:cs typeface="Montserrat" pitchFamily="34" charset="-120"/>
              </a:rPr>
              <a:t>Brief description for this section.</a:t>
            </a:r>
            <a:endParaRPr lang="en-US" sz="788" dirty="0"/>
          </a:p>
        </p:txBody>
      </p:sp>
      <p:sp>
        <p:nvSpPr>
          <p:cNvPr id="20" name="Shape 17"/>
          <p:cNvSpPr/>
          <p:nvPr/>
        </p:nvSpPr>
        <p:spPr>
          <a:xfrm>
            <a:off x="4714875" y="2145469"/>
            <a:ext cx="285750" cy="285750"/>
          </a:xfrm>
          <a:prstGeom prst="roundRect">
            <a:avLst>
              <a:gd name="adj" fmla="val 15000"/>
            </a:avLst>
          </a:prstGeom>
          <a:solidFill>
            <a:srgbClr val="1E4CD9"/>
          </a:solidFill>
          <a:ln/>
        </p:spPr>
      </p:sp>
      <p:sp>
        <p:nvSpPr>
          <p:cNvPr id="21" name="Text 18"/>
          <p:cNvSpPr/>
          <p:nvPr/>
        </p:nvSpPr>
        <p:spPr>
          <a:xfrm>
            <a:off x="4822478" y="2212665"/>
            <a:ext cx="194310" cy="150019"/>
          </a:xfrm>
          <a:prstGeom prst="rect">
            <a:avLst/>
          </a:prstGeom>
          <a:noFill/>
          <a:ln/>
        </p:spPr>
        <p:txBody>
          <a:bodyPr wrap="none" rtlCol="0" anchor="ctr"/>
          <a:lstStyle/>
          <a:p>
            <a:pPr algn="ctr" indent="0" marL="0">
              <a:lnSpc>
                <a:spcPct val="120000"/>
              </a:lnSpc>
              <a:buNone/>
            </a:pPr>
            <a:r>
              <a:rPr lang="en-US" sz="900" b="1" dirty="0">
                <a:solidFill>
                  <a:srgbClr val="FFFFFF"/>
                </a:solidFill>
                <a:latin typeface="Montserrat" pitchFamily="34" charset="0"/>
                <a:ea typeface="Montserrat" pitchFamily="34" charset="-122"/>
                <a:cs typeface="Montserrat" pitchFamily="34" charset="-120"/>
              </a:rPr>
              <a:t>4</a:t>
            </a:r>
            <a:endParaRPr lang="en-US" sz="900" dirty="0"/>
          </a:p>
        </p:txBody>
      </p:sp>
      <p:sp>
        <p:nvSpPr>
          <p:cNvPr id="22" name="Shape 19"/>
          <p:cNvSpPr/>
          <p:nvPr/>
        </p:nvSpPr>
        <p:spPr>
          <a:xfrm>
            <a:off x="5114925" y="2145469"/>
            <a:ext cx="3571875" cy="562570"/>
          </a:xfrm>
          <a:prstGeom prst="roundRect">
            <a:avLst>
              <a:gd name="adj" fmla="val 14997"/>
            </a:avLst>
          </a:prstGeom>
          <a:solidFill>
            <a:srgbClr val="F5F8FE"/>
          </a:solidFill>
          <a:ln/>
        </p:spPr>
      </p:sp>
      <p:sp>
        <p:nvSpPr>
          <p:cNvPr id="23" name="Text 20"/>
          <p:cNvSpPr/>
          <p:nvPr/>
        </p:nvSpPr>
        <p:spPr>
          <a:xfrm>
            <a:off x="5200650" y="2224050"/>
            <a:ext cx="696850" cy="171450"/>
          </a:xfrm>
          <a:prstGeom prst="rect">
            <a:avLst/>
          </a:prstGeom>
          <a:noFill/>
          <a:ln/>
        </p:spPr>
        <p:txBody>
          <a:bodyPr wrap="none" rtlCol="0" anchor="ctr"/>
          <a:lstStyle/>
          <a:p>
            <a:pPr algn="l" indent="0" marL="0">
              <a:lnSpc>
                <a:spcPct val="124000"/>
              </a:lnSpc>
              <a:buNone/>
            </a:pPr>
            <a:r>
              <a:rPr lang="en-US" sz="1013" dirty="0">
                <a:solidFill>
                  <a:srgbClr val="1E4CD9"/>
                </a:solidFill>
                <a:latin typeface="Montserrat" pitchFamily="34" charset="0"/>
                <a:ea typeface="Montserrat" pitchFamily="34" charset="-122"/>
                <a:cs typeface="Montserrat" pitchFamily="34" charset="-120"/>
              </a:rPr>
              <a:t>Section 4</a:t>
            </a:r>
            <a:endParaRPr lang="en-US" sz="1013" dirty="0"/>
          </a:p>
        </p:txBody>
      </p:sp>
      <p:sp>
        <p:nvSpPr>
          <p:cNvPr id="24" name="Text 21"/>
          <p:cNvSpPr/>
          <p:nvPr/>
        </p:nvSpPr>
        <p:spPr>
          <a:xfrm>
            <a:off x="5200650" y="2452650"/>
            <a:ext cx="1732467" cy="135731"/>
          </a:xfrm>
          <a:prstGeom prst="rect">
            <a:avLst/>
          </a:prstGeom>
          <a:noFill/>
          <a:ln/>
        </p:spPr>
        <p:txBody>
          <a:bodyPr wrap="none" rtlCol="0" anchor="ctr"/>
          <a:lstStyle/>
          <a:p>
            <a:pPr algn="l" indent="0" marL="0">
              <a:lnSpc>
                <a:spcPct val="130000"/>
              </a:lnSpc>
              <a:buNone/>
            </a:pPr>
            <a:r>
              <a:rPr lang="en-US" sz="788" dirty="0">
                <a:solidFill>
                  <a:srgbClr val="234CD9"/>
                </a:solidFill>
                <a:latin typeface="Montserrat" pitchFamily="34" charset="0"/>
                <a:ea typeface="Montserrat" pitchFamily="34" charset="-122"/>
                <a:cs typeface="Montserrat" pitchFamily="34" charset="-120"/>
              </a:rPr>
              <a:t>Brief description for this section.</a:t>
            </a:r>
            <a:endParaRPr lang="en-US" sz="788" dirty="0"/>
          </a:p>
        </p:txBody>
      </p:sp>
      <p:sp>
        <p:nvSpPr>
          <p:cNvPr id="25" name="Shape 22"/>
          <p:cNvSpPr/>
          <p:nvPr/>
        </p:nvSpPr>
        <p:spPr>
          <a:xfrm>
            <a:off x="457200" y="2850914"/>
            <a:ext cx="285750" cy="285750"/>
          </a:xfrm>
          <a:prstGeom prst="roundRect">
            <a:avLst>
              <a:gd name="adj" fmla="val 15000"/>
            </a:avLst>
          </a:prstGeom>
          <a:solidFill>
            <a:srgbClr val="1E4CD9"/>
          </a:solidFill>
          <a:ln/>
        </p:spPr>
      </p:sp>
      <p:sp>
        <p:nvSpPr>
          <p:cNvPr id="26" name="Text 23"/>
          <p:cNvSpPr/>
          <p:nvPr/>
        </p:nvSpPr>
        <p:spPr>
          <a:xfrm>
            <a:off x="564803" y="2918110"/>
            <a:ext cx="194310" cy="150019"/>
          </a:xfrm>
          <a:prstGeom prst="rect">
            <a:avLst/>
          </a:prstGeom>
          <a:noFill/>
          <a:ln/>
        </p:spPr>
        <p:txBody>
          <a:bodyPr wrap="none" rtlCol="0" anchor="ctr"/>
          <a:lstStyle/>
          <a:p>
            <a:pPr algn="ctr" indent="0" marL="0">
              <a:lnSpc>
                <a:spcPct val="120000"/>
              </a:lnSpc>
              <a:buNone/>
            </a:pPr>
            <a:r>
              <a:rPr lang="en-US" sz="900" b="1" dirty="0">
                <a:solidFill>
                  <a:srgbClr val="FFFFFF"/>
                </a:solidFill>
                <a:latin typeface="Montserrat" pitchFamily="34" charset="0"/>
                <a:ea typeface="Montserrat" pitchFamily="34" charset="-122"/>
                <a:cs typeface="Montserrat" pitchFamily="34" charset="-120"/>
              </a:rPr>
              <a:t>5</a:t>
            </a:r>
            <a:endParaRPr lang="en-US" sz="900" dirty="0"/>
          </a:p>
        </p:txBody>
      </p:sp>
      <p:sp>
        <p:nvSpPr>
          <p:cNvPr id="27" name="Shape 24"/>
          <p:cNvSpPr/>
          <p:nvPr/>
        </p:nvSpPr>
        <p:spPr>
          <a:xfrm>
            <a:off x="857250" y="2850914"/>
            <a:ext cx="3571875" cy="562570"/>
          </a:xfrm>
          <a:prstGeom prst="roundRect">
            <a:avLst>
              <a:gd name="adj" fmla="val 14997"/>
            </a:avLst>
          </a:prstGeom>
          <a:solidFill>
            <a:srgbClr val="F5F8FE"/>
          </a:solidFill>
          <a:ln/>
        </p:spPr>
      </p:sp>
      <p:sp>
        <p:nvSpPr>
          <p:cNvPr id="28" name="Text 25"/>
          <p:cNvSpPr/>
          <p:nvPr/>
        </p:nvSpPr>
        <p:spPr>
          <a:xfrm>
            <a:off x="942975" y="2929496"/>
            <a:ext cx="696850" cy="171450"/>
          </a:xfrm>
          <a:prstGeom prst="rect">
            <a:avLst/>
          </a:prstGeom>
          <a:noFill/>
          <a:ln/>
        </p:spPr>
        <p:txBody>
          <a:bodyPr wrap="none" rtlCol="0" anchor="ctr"/>
          <a:lstStyle/>
          <a:p>
            <a:pPr algn="l" indent="0" marL="0">
              <a:lnSpc>
                <a:spcPct val="124000"/>
              </a:lnSpc>
              <a:buNone/>
            </a:pPr>
            <a:r>
              <a:rPr lang="en-US" sz="1013" dirty="0">
                <a:solidFill>
                  <a:srgbClr val="1E4CD9"/>
                </a:solidFill>
                <a:latin typeface="Montserrat" pitchFamily="34" charset="0"/>
                <a:ea typeface="Montserrat" pitchFamily="34" charset="-122"/>
                <a:cs typeface="Montserrat" pitchFamily="34" charset="-120"/>
              </a:rPr>
              <a:t>Section 5</a:t>
            </a:r>
            <a:endParaRPr lang="en-US" sz="1013" dirty="0"/>
          </a:p>
        </p:txBody>
      </p:sp>
      <p:sp>
        <p:nvSpPr>
          <p:cNvPr id="29" name="Text 26"/>
          <p:cNvSpPr/>
          <p:nvPr/>
        </p:nvSpPr>
        <p:spPr>
          <a:xfrm>
            <a:off x="942975" y="3158096"/>
            <a:ext cx="1732467" cy="135731"/>
          </a:xfrm>
          <a:prstGeom prst="rect">
            <a:avLst/>
          </a:prstGeom>
          <a:noFill/>
          <a:ln/>
        </p:spPr>
        <p:txBody>
          <a:bodyPr wrap="none" rtlCol="0" anchor="ctr"/>
          <a:lstStyle/>
          <a:p>
            <a:pPr algn="l" indent="0" marL="0">
              <a:lnSpc>
                <a:spcPct val="130000"/>
              </a:lnSpc>
              <a:buNone/>
            </a:pPr>
            <a:r>
              <a:rPr lang="en-US" sz="788" dirty="0">
                <a:solidFill>
                  <a:srgbClr val="234CD9"/>
                </a:solidFill>
                <a:latin typeface="Montserrat" pitchFamily="34" charset="0"/>
                <a:ea typeface="Montserrat" pitchFamily="34" charset="-122"/>
                <a:cs typeface="Montserrat" pitchFamily="34" charset="-120"/>
              </a:rPr>
              <a:t>Brief description for this section.</a:t>
            </a:r>
            <a:endParaRPr lang="en-US" sz="788" dirty="0"/>
          </a:p>
        </p:txBody>
      </p:sp>
      <p:sp>
        <p:nvSpPr>
          <p:cNvPr id="30" name="Shape 27"/>
          <p:cNvSpPr/>
          <p:nvPr/>
        </p:nvSpPr>
        <p:spPr>
          <a:xfrm>
            <a:off x="4714875" y="2850914"/>
            <a:ext cx="285750" cy="285750"/>
          </a:xfrm>
          <a:prstGeom prst="roundRect">
            <a:avLst>
              <a:gd name="adj" fmla="val 15000"/>
            </a:avLst>
          </a:prstGeom>
          <a:solidFill>
            <a:srgbClr val="1E4CD9"/>
          </a:solidFill>
          <a:ln/>
        </p:spPr>
      </p:sp>
      <p:sp>
        <p:nvSpPr>
          <p:cNvPr id="31" name="Text 28"/>
          <p:cNvSpPr/>
          <p:nvPr/>
        </p:nvSpPr>
        <p:spPr>
          <a:xfrm>
            <a:off x="4822478" y="2918110"/>
            <a:ext cx="194310" cy="150019"/>
          </a:xfrm>
          <a:prstGeom prst="rect">
            <a:avLst/>
          </a:prstGeom>
          <a:noFill/>
          <a:ln/>
        </p:spPr>
        <p:txBody>
          <a:bodyPr wrap="none" rtlCol="0" anchor="ctr"/>
          <a:lstStyle/>
          <a:p>
            <a:pPr algn="ctr" indent="0" marL="0">
              <a:lnSpc>
                <a:spcPct val="120000"/>
              </a:lnSpc>
              <a:buNone/>
            </a:pPr>
            <a:r>
              <a:rPr lang="en-US" sz="900" b="1" dirty="0">
                <a:solidFill>
                  <a:srgbClr val="FFFFFF"/>
                </a:solidFill>
                <a:latin typeface="Montserrat" pitchFamily="34" charset="0"/>
                <a:ea typeface="Montserrat" pitchFamily="34" charset="-122"/>
                <a:cs typeface="Montserrat" pitchFamily="34" charset="-120"/>
              </a:rPr>
              <a:t>6</a:t>
            </a:r>
            <a:endParaRPr lang="en-US" sz="900" dirty="0"/>
          </a:p>
        </p:txBody>
      </p:sp>
      <p:sp>
        <p:nvSpPr>
          <p:cNvPr id="32" name="Shape 29"/>
          <p:cNvSpPr/>
          <p:nvPr/>
        </p:nvSpPr>
        <p:spPr>
          <a:xfrm>
            <a:off x="5114925" y="2850914"/>
            <a:ext cx="3571875" cy="562570"/>
          </a:xfrm>
          <a:prstGeom prst="roundRect">
            <a:avLst>
              <a:gd name="adj" fmla="val 14997"/>
            </a:avLst>
          </a:prstGeom>
          <a:solidFill>
            <a:srgbClr val="F5F8FE"/>
          </a:solidFill>
          <a:ln/>
        </p:spPr>
      </p:sp>
      <p:sp>
        <p:nvSpPr>
          <p:cNvPr id="33" name="Text 30"/>
          <p:cNvSpPr/>
          <p:nvPr/>
        </p:nvSpPr>
        <p:spPr>
          <a:xfrm>
            <a:off x="5200650" y="2929496"/>
            <a:ext cx="696850" cy="171450"/>
          </a:xfrm>
          <a:prstGeom prst="rect">
            <a:avLst/>
          </a:prstGeom>
          <a:noFill/>
          <a:ln/>
        </p:spPr>
        <p:txBody>
          <a:bodyPr wrap="none" rtlCol="0" anchor="ctr"/>
          <a:lstStyle/>
          <a:p>
            <a:pPr algn="l" indent="0" marL="0">
              <a:lnSpc>
                <a:spcPct val="124000"/>
              </a:lnSpc>
              <a:buNone/>
            </a:pPr>
            <a:r>
              <a:rPr lang="en-US" sz="1013" dirty="0">
                <a:solidFill>
                  <a:srgbClr val="1E4CD9"/>
                </a:solidFill>
                <a:latin typeface="Montserrat" pitchFamily="34" charset="0"/>
                <a:ea typeface="Montserrat" pitchFamily="34" charset="-122"/>
                <a:cs typeface="Montserrat" pitchFamily="34" charset="-120"/>
              </a:rPr>
              <a:t>Section 6</a:t>
            </a:r>
            <a:endParaRPr lang="en-US" sz="1013" dirty="0"/>
          </a:p>
        </p:txBody>
      </p:sp>
      <p:sp>
        <p:nvSpPr>
          <p:cNvPr id="34" name="Text 31"/>
          <p:cNvSpPr/>
          <p:nvPr/>
        </p:nvSpPr>
        <p:spPr>
          <a:xfrm>
            <a:off x="5200650" y="3158096"/>
            <a:ext cx="1732467" cy="135731"/>
          </a:xfrm>
          <a:prstGeom prst="rect">
            <a:avLst/>
          </a:prstGeom>
          <a:noFill/>
          <a:ln/>
        </p:spPr>
        <p:txBody>
          <a:bodyPr wrap="none" rtlCol="0" anchor="ctr"/>
          <a:lstStyle/>
          <a:p>
            <a:pPr algn="l" indent="0" marL="0">
              <a:lnSpc>
                <a:spcPct val="130000"/>
              </a:lnSpc>
              <a:buNone/>
            </a:pPr>
            <a:r>
              <a:rPr lang="en-US" sz="788" dirty="0">
                <a:solidFill>
                  <a:srgbClr val="234CD9"/>
                </a:solidFill>
                <a:latin typeface="Montserrat" pitchFamily="34" charset="0"/>
                <a:ea typeface="Montserrat" pitchFamily="34" charset="-122"/>
                <a:cs typeface="Montserrat" pitchFamily="34" charset="-120"/>
              </a:rPr>
              <a:t>Brief description for this section.</a:t>
            </a:r>
            <a:endParaRPr lang="en-US" sz="788" dirty="0"/>
          </a:p>
        </p:txBody>
      </p:sp>
      <p:sp>
        <p:nvSpPr>
          <p:cNvPr id="35" name="Shape 32"/>
          <p:cNvSpPr/>
          <p:nvPr/>
        </p:nvSpPr>
        <p:spPr>
          <a:xfrm>
            <a:off x="457200" y="3556360"/>
            <a:ext cx="285750" cy="285750"/>
          </a:xfrm>
          <a:prstGeom prst="roundRect">
            <a:avLst>
              <a:gd name="adj" fmla="val 15000"/>
            </a:avLst>
          </a:prstGeom>
          <a:solidFill>
            <a:srgbClr val="1E4CD9"/>
          </a:solidFill>
          <a:ln/>
        </p:spPr>
      </p:sp>
      <p:sp>
        <p:nvSpPr>
          <p:cNvPr id="36" name="Text 33"/>
          <p:cNvSpPr/>
          <p:nvPr/>
        </p:nvSpPr>
        <p:spPr>
          <a:xfrm>
            <a:off x="564803" y="3623556"/>
            <a:ext cx="194310" cy="150019"/>
          </a:xfrm>
          <a:prstGeom prst="rect">
            <a:avLst/>
          </a:prstGeom>
          <a:noFill/>
          <a:ln/>
        </p:spPr>
        <p:txBody>
          <a:bodyPr wrap="none" rtlCol="0" anchor="ctr"/>
          <a:lstStyle/>
          <a:p>
            <a:pPr algn="ctr" indent="0" marL="0">
              <a:lnSpc>
                <a:spcPct val="120000"/>
              </a:lnSpc>
              <a:buNone/>
            </a:pPr>
            <a:r>
              <a:rPr lang="en-US" sz="900" b="1" dirty="0">
                <a:solidFill>
                  <a:srgbClr val="FFFFFF"/>
                </a:solidFill>
                <a:latin typeface="Montserrat" pitchFamily="34" charset="0"/>
                <a:ea typeface="Montserrat" pitchFamily="34" charset="-122"/>
                <a:cs typeface="Montserrat" pitchFamily="34" charset="-120"/>
              </a:rPr>
              <a:t>7</a:t>
            </a:r>
            <a:endParaRPr lang="en-US" sz="900" dirty="0"/>
          </a:p>
        </p:txBody>
      </p:sp>
      <p:sp>
        <p:nvSpPr>
          <p:cNvPr id="37" name="Shape 34"/>
          <p:cNvSpPr/>
          <p:nvPr/>
        </p:nvSpPr>
        <p:spPr>
          <a:xfrm>
            <a:off x="857250" y="3556360"/>
            <a:ext cx="3571875" cy="562570"/>
          </a:xfrm>
          <a:prstGeom prst="roundRect">
            <a:avLst>
              <a:gd name="adj" fmla="val 14997"/>
            </a:avLst>
          </a:prstGeom>
          <a:solidFill>
            <a:srgbClr val="F5F8FE"/>
          </a:solidFill>
          <a:ln/>
        </p:spPr>
      </p:sp>
      <p:sp>
        <p:nvSpPr>
          <p:cNvPr id="38" name="Text 35"/>
          <p:cNvSpPr/>
          <p:nvPr/>
        </p:nvSpPr>
        <p:spPr>
          <a:xfrm>
            <a:off x="942975" y="3634941"/>
            <a:ext cx="696850" cy="171450"/>
          </a:xfrm>
          <a:prstGeom prst="rect">
            <a:avLst/>
          </a:prstGeom>
          <a:noFill/>
          <a:ln/>
        </p:spPr>
        <p:txBody>
          <a:bodyPr wrap="none" rtlCol="0" anchor="ctr"/>
          <a:lstStyle/>
          <a:p>
            <a:pPr algn="l" indent="0" marL="0">
              <a:lnSpc>
                <a:spcPct val="124000"/>
              </a:lnSpc>
              <a:buNone/>
            </a:pPr>
            <a:r>
              <a:rPr lang="en-US" sz="1013" dirty="0">
                <a:solidFill>
                  <a:srgbClr val="1E4CD9"/>
                </a:solidFill>
                <a:latin typeface="Montserrat" pitchFamily="34" charset="0"/>
                <a:ea typeface="Montserrat" pitchFamily="34" charset="-122"/>
                <a:cs typeface="Montserrat" pitchFamily="34" charset="-120"/>
              </a:rPr>
              <a:t>Section 7</a:t>
            </a:r>
            <a:endParaRPr lang="en-US" sz="1013" dirty="0"/>
          </a:p>
        </p:txBody>
      </p:sp>
      <p:sp>
        <p:nvSpPr>
          <p:cNvPr id="39" name="Text 36"/>
          <p:cNvSpPr/>
          <p:nvPr/>
        </p:nvSpPr>
        <p:spPr>
          <a:xfrm>
            <a:off x="942975" y="3863541"/>
            <a:ext cx="1732467" cy="135731"/>
          </a:xfrm>
          <a:prstGeom prst="rect">
            <a:avLst/>
          </a:prstGeom>
          <a:noFill/>
          <a:ln/>
        </p:spPr>
        <p:txBody>
          <a:bodyPr wrap="none" rtlCol="0" anchor="ctr"/>
          <a:lstStyle/>
          <a:p>
            <a:pPr algn="l" indent="0" marL="0">
              <a:lnSpc>
                <a:spcPct val="130000"/>
              </a:lnSpc>
              <a:buNone/>
            </a:pPr>
            <a:r>
              <a:rPr lang="en-US" sz="788" dirty="0">
                <a:solidFill>
                  <a:srgbClr val="234CD9"/>
                </a:solidFill>
                <a:latin typeface="Montserrat" pitchFamily="34" charset="0"/>
                <a:ea typeface="Montserrat" pitchFamily="34" charset="-122"/>
                <a:cs typeface="Montserrat" pitchFamily="34" charset="-120"/>
              </a:rPr>
              <a:t>Brief description for this section.</a:t>
            </a:r>
            <a:endParaRPr lang="en-US" sz="788" dirty="0"/>
          </a:p>
        </p:txBody>
      </p:sp>
      <p:sp>
        <p:nvSpPr>
          <p:cNvPr id="40" name="Shape 37"/>
          <p:cNvSpPr/>
          <p:nvPr/>
        </p:nvSpPr>
        <p:spPr>
          <a:xfrm>
            <a:off x="4714875" y="3556360"/>
            <a:ext cx="285750" cy="285750"/>
          </a:xfrm>
          <a:prstGeom prst="roundRect">
            <a:avLst>
              <a:gd name="adj" fmla="val 15000"/>
            </a:avLst>
          </a:prstGeom>
          <a:solidFill>
            <a:srgbClr val="1E4CD9"/>
          </a:solidFill>
          <a:ln/>
        </p:spPr>
      </p:sp>
      <p:sp>
        <p:nvSpPr>
          <p:cNvPr id="41" name="Text 38"/>
          <p:cNvSpPr/>
          <p:nvPr/>
        </p:nvSpPr>
        <p:spPr>
          <a:xfrm>
            <a:off x="4822478" y="3623556"/>
            <a:ext cx="194310" cy="150019"/>
          </a:xfrm>
          <a:prstGeom prst="rect">
            <a:avLst/>
          </a:prstGeom>
          <a:noFill/>
          <a:ln/>
        </p:spPr>
        <p:txBody>
          <a:bodyPr wrap="none" rtlCol="0" anchor="ctr"/>
          <a:lstStyle/>
          <a:p>
            <a:pPr algn="ctr" indent="0" marL="0">
              <a:lnSpc>
                <a:spcPct val="120000"/>
              </a:lnSpc>
              <a:buNone/>
            </a:pPr>
            <a:r>
              <a:rPr lang="en-US" sz="900" b="1" dirty="0">
                <a:solidFill>
                  <a:srgbClr val="FFFFFF"/>
                </a:solidFill>
                <a:latin typeface="Montserrat" pitchFamily="34" charset="0"/>
                <a:ea typeface="Montserrat" pitchFamily="34" charset="-122"/>
                <a:cs typeface="Montserrat" pitchFamily="34" charset="-120"/>
              </a:rPr>
              <a:t>8</a:t>
            </a:r>
            <a:endParaRPr lang="en-US" sz="900" dirty="0"/>
          </a:p>
        </p:txBody>
      </p:sp>
      <p:sp>
        <p:nvSpPr>
          <p:cNvPr id="42" name="Shape 39"/>
          <p:cNvSpPr/>
          <p:nvPr/>
        </p:nvSpPr>
        <p:spPr>
          <a:xfrm>
            <a:off x="5114925" y="3556360"/>
            <a:ext cx="3571875" cy="562570"/>
          </a:xfrm>
          <a:prstGeom prst="roundRect">
            <a:avLst>
              <a:gd name="adj" fmla="val 14997"/>
            </a:avLst>
          </a:prstGeom>
          <a:solidFill>
            <a:srgbClr val="F5F8FE"/>
          </a:solidFill>
          <a:ln/>
        </p:spPr>
      </p:sp>
      <p:sp>
        <p:nvSpPr>
          <p:cNvPr id="43" name="Text 40"/>
          <p:cNvSpPr/>
          <p:nvPr/>
        </p:nvSpPr>
        <p:spPr>
          <a:xfrm>
            <a:off x="5200650" y="3634941"/>
            <a:ext cx="696850" cy="171450"/>
          </a:xfrm>
          <a:prstGeom prst="rect">
            <a:avLst/>
          </a:prstGeom>
          <a:noFill/>
          <a:ln/>
        </p:spPr>
        <p:txBody>
          <a:bodyPr wrap="none" rtlCol="0" anchor="ctr"/>
          <a:lstStyle/>
          <a:p>
            <a:pPr algn="l" indent="0" marL="0">
              <a:lnSpc>
                <a:spcPct val="124000"/>
              </a:lnSpc>
              <a:buNone/>
            </a:pPr>
            <a:r>
              <a:rPr lang="en-US" sz="1013" dirty="0">
                <a:solidFill>
                  <a:srgbClr val="1E4CD9"/>
                </a:solidFill>
                <a:latin typeface="Montserrat" pitchFamily="34" charset="0"/>
                <a:ea typeface="Montserrat" pitchFamily="34" charset="-122"/>
                <a:cs typeface="Montserrat" pitchFamily="34" charset="-120"/>
              </a:rPr>
              <a:t>Section 8</a:t>
            </a:r>
            <a:endParaRPr lang="en-US" sz="1013" dirty="0"/>
          </a:p>
        </p:txBody>
      </p:sp>
      <p:sp>
        <p:nvSpPr>
          <p:cNvPr id="44" name="Text 41"/>
          <p:cNvSpPr/>
          <p:nvPr/>
        </p:nvSpPr>
        <p:spPr>
          <a:xfrm>
            <a:off x="5200650" y="3863541"/>
            <a:ext cx="1732467" cy="135731"/>
          </a:xfrm>
          <a:prstGeom prst="rect">
            <a:avLst/>
          </a:prstGeom>
          <a:noFill/>
          <a:ln/>
        </p:spPr>
        <p:txBody>
          <a:bodyPr wrap="none" rtlCol="0" anchor="ctr"/>
          <a:lstStyle/>
          <a:p>
            <a:pPr algn="l" indent="0" marL="0">
              <a:lnSpc>
                <a:spcPct val="130000"/>
              </a:lnSpc>
              <a:buNone/>
            </a:pPr>
            <a:r>
              <a:rPr lang="en-US" sz="788" dirty="0">
                <a:solidFill>
                  <a:srgbClr val="234CD9"/>
                </a:solidFill>
                <a:latin typeface="Montserrat" pitchFamily="34" charset="0"/>
                <a:ea typeface="Montserrat" pitchFamily="34" charset="-122"/>
                <a:cs typeface="Montserrat" pitchFamily="34" charset="-120"/>
              </a:rPr>
              <a:t>Brief description for this section.</a:t>
            </a:r>
            <a:endParaRPr lang="en-US" sz="788" dirty="0"/>
          </a:p>
        </p:txBody>
      </p:sp>
      <p:sp>
        <p:nvSpPr>
          <p:cNvPr id="45" name="Shape 42"/>
          <p:cNvSpPr/>
          <p:nvPr/>
        </p:nvSpPr>
        <p:spPr>
          <a:xfrm>
            <a:off x="457200" y="4261805"/>
            <a:ext cx="285750" cy="285750"/>
          </a:xfrm>
          <a:prstGeom prst="roundRect">
            <a:avLst>
              <a:gd name="adj" fmla="val 15000"/>
            </a:avLst>
          </a:prstGeom>
          <a:solidFill>
            <a:srgbClr val="1E4CD9"/>
          </a:solidFill>
          <a:ln/>
        </p:spPr>
      </p:sp>
      <p:sp>
        <p:nvSpPr>
          <p:cNvPr id="46" name="Text 43"/>
          <p:cNvSpPr/>
          <p:nvPr/>
        </p:nvSpPr>
        <p:spPr>
          <a:xfrm>
            <a:off x="564803" y="4329001"/>
            <a:ext cx="194310" cy="150019"/>
          </a:xfrm>
          <a:prstGeom prst="rect">
            <a:avLst/>
          </a:prstGeom>
          <a:noFill/>
          <a:ln/>
        </p:spPr>
        <p:txBody>
          <a:bodyPr wrap="none" rtlCol="0" anchor="ctr"/>
          <a:lstStyle/>
          <a:p>
            <a:pPr algn="ctr" indent="0" marL="0">
              <a:lnSpc>
                <a:spcPct val="120000"/>
              </a:lnSpc>
              <a:buNone/>
            </a:pPr>
            <a:r>
              <a:rPr lang="en-US" sz="900" b="1" dirty="0">
                <a:solidFill>
                  <a:srgbClr val="FFFFFF"/>
                </a:solidFill>
                <a:latin typeface="Montserrat" pitchFamily="34" charset="0"/>
                <a:ea typeface="Montserrat" pitchFamily="34" charset="-122"/>
                <a:cs typeface="Montserrat" pitchFamily="34" charset="-120"/>
              </a:rPr>
              <a:t>9</a:t>
            </a:r>
            <a:endParaRPr lang="en-US" sz="900" dirty="0"/>
          </a:p>
        </p:txBody>
      </p:sp>
      <p:sp>
        <p:nvSpPr>
          <p:cNvPr id="47" name="Shape 44"/>
          <p:cNvSpPr/>
          <p:nvPr/>
        </p:nvSpPr>
        <p:spPr>
          <a:xfrm>
            <a:off x="857250" y="4261805"/>
            <a:ext cx="3571875" cy="562570"/>
          </a:xfrm>
          <a:prstGeom prst="roundRect">
            <a:avLst>
              <a:gd name="adj" fmla="val 14997"/>
            </a:avLst>
          </a:prstGeom>
          <a:solidFill>
            <a:srgbClr val="F5F8FE"/>
          </a:solidFill>
          <a:ln/>
        </p:spPr>
      </p:sp>
      <p:sp>
        <p:nvSpPr>
          <p:cNvPr id="48" name="Text 45"/>
          <p:cNvSpPr/>
          <p:nvPr/>
        </p:nvSpPr>
        <p:spPr>
          <a:xfrm>
            <a:off x="942975" y="4340386"/>
            <a:ext cx="696850" cy="171450"/>
          </a:xfrm>
          <a:prstGeom prst="rect">
            <a:avLst/>
          </a:prstGeom>
          <a:noFill/>
          <a:ln/>
        </p:spPr>
        <p:txBody>
          <a:bodyPr wrap="none" rtlCol="0" anchor="ctr"/>
          <a:lstStyle/>
          <a:p>
            <a:pPr algn="l" indent="0" marL="0">
              <a:lnSpc>
                <a:spcPct val="124000"/>
              </a:lnSpc>
              <a:buNone/>
            </a:pPr>
            <a:r>
              <a:rPr lang="en-US" sz="1013" dirty="0">
                <a:solidFill>
                  <a:srgbClr val="1E4CD9"/>
                </a:solidFill>
                <a:latin typeface="Montserrat" pitchFamily="34" charset="0"/>
                <a:ea typeface="Montserrat" pitchFamily="34" charset="-122"/>
                <a:cs typeface="Montserrat" pitchFamily="34" charset="-120"/>
              </a:rPr>
              <a:t>Section 9</a:t>
            </a:r>
            <a:endParaRPr lang="en-US" sz="1013" dirty="0"/>
          </a:p>
        </p:txBody>
      </p:sp>
      <p:sp>
        <p:nvSpPr>
          <p:cNvPr id="49" name="Text 46"/>
          <p:cNvSpPr/>
          <p:nvPr/>
        </p:nvSpPr>
        <p:spPr>
          <a:xfrm>
            <a:off x="942975" y="4568986"/>
            <a:ext cx="1732467" cy="135731"/>
          </a:xfrm>
          <a:prstGeom prst="rect">
            <a:avLst/>
          </a:prstGeom>
          <a:noFill/>
          <a:ln/>
        </p:spPr>
        <p:txBody>
          <a:bodyPr wrap="none" rtlCol="0" anchor="ctr"/>
          <a:lstStyle/>
          <a:p>
            <a:pPr algn="l" indent="0" marL="0">
              <a:lnSpc>
                <a:spcPct val="130000"/>
              </a:lnSpc>
              <a:buNone/>
            </a:pPr>
            <a:r>
              <a:rPr lang="en-US" sz="788" dirty="0">
                <a:solidFill>
                  <a:srgbClr val="234CD9"/>
                </a:solidFill>
                <a:latin typeface="Montserrat" pitchFamily="34" charset="0"/>
                <a:ea typeface="Montserrat" pitchFamily="34" charset="-122"/>
                <a:cs typeface="Montserrat" pitchFamily="34" charset="-120"/>
              </a:rPr>
              <a:t>Brief description for this section.</a:t>
            </a:r>
            <a:endParaRPr lang="en-US" sz="788" dirty="0"/>
          </a:p>
        </p:txBody>
      </p:sp>
      <p:sp>
        <p:nvSpPr>
          <p:cNvPr id="50" name="Shape 47"/>
          <p:cNvSpPr/>
          <p:nvPr/>
        </p:nvSpPr>
        <p:spPr>
          <a:xfrm>
            <a:off x="4714875" y="4261805"/>
            <a:ext cx="285750" cy="285750"/>
          </a:xfrm>
          <a:prstGeom prst="roundRect">
            <a:avLst>
              <a:gd name="adj" fmla="val 15000"/>
            </a:avLst>
          </a:prstGeom>
          <a:solidFill>
            <a:srgbClr val="1E4CD9"/>
          </a:solidFill>
          <a:ln/>
        </p:spPr>
      </p:sp>
      <p:sp>
        <p:nvSpPr>
          <p:cNvPr id="51" name="Text 48"/>
          <p:cNvSpPr/>
          <p:nvPr/>
        </p:nvSpPr>
        <p:spPr>
          <a:xfrm>
            <a:off x="4787205" y="4329001"/>
            <a:ext cx="274320" cy="150019"/>
          </a:xfrm>
          <a:prstGeom prst="rect">
            <a:avLst/>
          </a:prstGeom>
          <a:noFill/>
          <a:ln/>
        </p:spPr>
        <p:txBody>
          <a:bodyPr wrap="none" rtlCol="0" anchor="ctr"/>
          <a:lstStyle/>
          <a:p>
            <a:pPr algn="ctr" indent="0" marL="0">
              <a:lnSpc>
                <a:spcPct val="120000"/>
              </a:lnSpc>
              <a:buNone/>
            </a:pPr>
            <a:r>
              <a:rPr lang="en-US" sz="900" b="1" dirty="0">
                <a:solidFill>
                  <a:srgbClr val="FFFFFF"/>
                </a:solidFill>
                <a:latin typeface="Montserrat" pitchFamily="34" charset="0"/>
                <a:ea typeface="Montserrat" pitchFamily="34" charset="-122"/>
                <a:cs typeface="Montserrat" pitchFamily="34" charset="-120"/>
              </a:rPr>
              <a:t>10</a:t>
            </a:r>
            <a:endParaRPr lang="en-US" sz="900" dirty="0"/>
          </a:p>
        </p:txBody>
      </p:sp>
      <p:sp>
        <p:nvSpPr>
          <p:cNvPr id="52" name="Shape 49"/>
          <p:cNvSpPr/>
          <p:nvPr/>
        </p:nvSpPr>
        <p:spPr>
          <a:xfrm>
            <a:off x="5114925" y="4261805"/>
            <a:ext cx="3571875" cy="562570"/>
          </a:xfrm>
          <a:prstGeom prst="roundRect">
            <a:avLst>
              <a:gd name="adj" fmla="val 14997"/>
            </a:avLst>
          </a:prstGeom>
          <a:solidFill>
            <a:srgbClr val="F5F8FE"/>
          </a:solidFill>
          <a:ln/>
        </p:spPr>
      </p:sp>
      <p:sp>
        <p:nvSpPr>
          <p:cNvPr id="53" name="Text 50"/>
          <p:cNvSpPr/>
          <p:nvPr/>
        </p:nvSpPr>
        <p:spPr>
          <a:xfrm>
            <a:off x="5200650" y="4340386"/>
            <a:ext cx="772306" cy="171450"/>
          </a:xfrm>
          <a:prstGeom prst="rect">
            <a:avLst/>
          </a:prstGeom>
          <a:noFill/>
          <a:ln/>
        </p:spPr>
        <p:txBody>
          <a:bodyPr wrap="none" rtlCol="0" anchor="ctr"/>
          <a:lstStyle/>
          <a:p>
            <a:pPr algn="l" indent="0" marL="0">
              <a:lnSpc>
                <a:spcPct val="124000"/>
              </a:lnSpc>
              <a:buNone/>
            </a:pPr>
            <a:r>
              <a:rPr lang="en-US" sz="1013" dirty="0">
                <a:solidFill>
                  <a:srgbClr val="1E4CD9"/>
                </a:solidFill>
                <a:latin typeface="Montserrat" pitchFamily="34" charset="0"/>
                <a:ea typeface="Montserrat" pitchFamily="34" charset="-122"/>
                <a:cs typeface="Montserrat" pitchFamily="34" charset="-120"/>
              </a:rPr>
              <a:t>Section 10</a:t>
            </a:r>
            <a:endParaRPr lang="en-US" sz="1013" dirty="0"/>
          </a:p>
        </p:txBody>
      </p:sp>
      <p:sp>
        <p:nvSpPr>
          <p:cNvPr id="54" name="Text 51"/>
          <p:cNvSpPr/>
          <p:nvPr/>
        </p:nvSpPr>
        <p:spPr>
          <a:xfrm>
            <a:off x="5200650" y="4568986"/>
            <a:ext cx="1732467" cy="135731"/>
          </a:xfrm>
          <a:prstGeom prst="rect">
            <a:avLst/>
          </a:prstGeom>
          <a:noFill/>
          <a:ln/>
        </p:spPr>
        <p:txBody>
          <a:bodyPr wrap="none" rtlCol="0" anchor="ctr"/>
          <a:lstStyle/>
          <a:p>
            <a:pPr algn="l" indent="0" marL="0">
              <a:lnSpc>
                <a:spcPct val="130000"/>
              </a:lnSpc>
              <a:buNone/>
            </a:pPr>
            <a:r>
              <a:rPr lang="en-US" sz="788" dirty="0">
                <a:solidFill>
                  <a:srgbClr val="234CD9"/>
                </a:solidFill>
                <a:latin typeface="Montserrat" pitchFamily="34" charset="0"/>
                <a:ea typeface="Montserrat" pitchFamily="34" charset="-122"/>
                <a:cs typeface="Montserrat" pitchFamily="34" charset="-120"/>
              </a:rPr>
              <a:t>Brief description for this section.</a:t>
            </a:r>
            <a:endParaRPr lang="en-US" sz="788" dirty="0"/>
          </a:p>
        </p:txBody>
      </p:sp>
      <p:pic>
        <p:nvPicPr>
          <p:cNvPr id="5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5114925"/>
            <a:ext cx="9144000" cy="285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288" y="5100638"/>
            <a:ext cx="9115425" cy="28575"/>
          </a:xfrm>
          <a:prstGeom prst="rect">
            <a:avLst/>
          </a:prstGeom>
        </p:spPr>
      </p:pic>
      <p:sp>
        <p:nvSpPr>
          <p:cNvPr id="5" name="Text 1"/>
          <p:cNvSpPr/>
          <p:nvPr/>
        </p:nvSpPr>
        <p:spPr>
          <a:xfrm>
            <a:off x="471488" y="1101923"/>
            <a:ext cx="3802475" cy="457200"/>
          </a:xfrm>
          <a:prstGeom prst="rect">
            <a:avLst/>
          </a:prstGeom>
          <a:noFill/>
          <a:ln/>
        </p:spPr>
        <p:txBody>
          <a:bodyPr wrap="none" rtlCol="0" anchor="ctr"/>
          <a:lstStyle/>
          <a:p>
            <a:pPr algn="l" indent="0" marL="0">
              <a:lnSpc>
                <a:spcPct val="100000"/>
              </a:lnSpc>
              <a:buNone/>
            </a:pPr>
            <a:r>
              <a:rPr lang="en-US" sz="2700" b="1" dirty="0">
                <a:solidFill>
                  <a:srgbClr val="1E4CD9"/>
                </a:solidFill>
                <a:latin typeface="Montserrat" pitchFamily="34" charset="0"/>
                <a:ea typeface="Montserrat" pitchFamily="34" charset="-122"/>
                <a:cs typeface="Montserrat" pitchFamily="34" charset="-120"/>
              </a:rPr>
              <a:t>Businesses struggle</a:t>
            </a:r>
            <a:endParaRPr lang="en-US" sz="2700" dirty="0"/>
          </a:p>
        </p:txBody>
      </p:sp>
      <p:sp>
        <p:nvSpPr>
          <p:cNvPr id="6" name="Text 2"/>
          <p:cNvSpPr/>
          <p:nvPr/>
        </p:nvSpPr>
        <p:spPr>
          <a:xfrm>
            <a:off x="481199" y="2045010"/>
            <a:ext cx="3953994" cy="1006934"/>
          </a:xfrm>
          <a:prstGeom prst="rect">
            <a:avLst/>
          </a:prstGeom>
          <a:noFill/>
          <a:ln/>
        </p:spPr>
        <p:txBody>
          <a:bodyPr wrap="square" rtlCol="0" anchor="ctr"/>
          <a:lstStyle/>
          <a:p>
            <a:pPr algn="l" indent="0" marL="0">
              <a:lnSpc>
                <a:spcPct val="130000"/>
              </a:lnSpc>
              <a:buNone/>
            </a:pPr>
            <a:r>
              <a:rPr lang="en-US" sz="1013" dirty="0">
                <a:solidFill>
                  <a:srgbClr val="334155"/>
                </a:solidFill>
                <a:latin typeface="Montserrat" pitchFamily="34" charset="0"/>
                <a:ea typeface="Montserrat" pitchFamily="34" charset="-122"/>
                <a:cs typeface="Montserrat" pitchFamily="34" charset="-120"/>
              </a:rPr>
              <a:t>Show that we offer a solution that solves the problems previously described and identified. Make sure that the solutions we offer uphold the values of effectiveness, efficiency, and are highly relevant to the market situation and society is here and what is hsd sdksdf klfdslkf lkflkfsldkf.</a:t>
            </a:r>
            <a:endParaRPr lang="en-US" sz="1013"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29150" y="519708"/>
            <a:ext cx="1964531" cy="1296591"/>
          </a:xfrm>
          <a:prstGeom prst="rect">
            <a:avLst/>
          </a:prstGeom>
        </p:spPr>
      </p:pic>
      <p:sp>
        <p:nvSpPr>
          <p:cNvPr id="8" name="Shape 3"/>
          <p:cNvSpPr/>
          <p:nvPr/>
        </p:nvSpPr>
        <p:spPr>
          <a:xfrm>
            <a:off x="5439966" y="634008"/>
            <a:ext cx="342900" cy="342900"/>
          </a:xfrm>
          <a:prstGeom prst="rect">
            <a:avLst/>
          </a:prstGeom>
          <a:solidFill>
            <a:srgbClr val="234CD9"/>
          </a:solidFill>
          <a:ln/>
        </p:spPr>
      </p:sp>
      <p:sp>
        <p:nvSpPr>
          <p:cNvPr id="9" name="Text 4"/>
          <p:cNvSpPr/>
          <p:nvPr/>
        </p:nvSpPr>
        <p:spPr>
          <a:xfrm>
            <a:off x="5418869" y="1026914"/>
            <a:ext cx="562570" cy="171450"/>
          </a:xfrm>
          <a:prstGeom prst="rect">
            <a:avLst/>
          </a:prstGeom>
          <a:noFill/>
          <a:ln/>
        </p:spPr>
        <p:txBody>
          <a:bodyPr wrap="none" rtlCol="0" anchor="ctr"/>
          <a:lstStyle/>
          <a:p>
            <a:pPr algn="ctr" indent="0" marL="0">
              <a:lnSpc>
                <a:spcPct val="124000"/>
              </a:lnSpc>
              <a:buNone/>
            </a:pPr>
            <a:r>
              <a:rPr lang="en-US" sz="1013" dirty="0">
                <a:solidFill>
                  <a:srgbClr val="234CD9"/>
                </a:solidFill>
                <a:latin typeface="Montserrat" pitchFamily="34" charset="0"/>
                <a:ea typeface="Montserrat" pitchFamily="34" charset="-122"/>
                <a:cs typeface="Montserrat" pitchFamily="34" charset="-120"/>
              </a:rPr>
              <a:t>Market</a:t>
            </a:r>
            <a:endParaRPr lang="en-US" sz="1013" dirty="0"/>
          </a:p>
        </p:txBody>
      </p:sp>
      <p:pic>
        <p:nvPicPr>
          <p:cNvPr id="1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97116" y="1262658"/>
            <a:ext cx="228600" cy="28575"/>
          </a:xfrm>
          <a:prstGeom prst="rect">
            <a:avLst/>
          </a:prstGeom>
        </p:spPr>
      </p:pic>
      <p:sp>
        <p:nvSpPr>
          <p:cNvPr id="11" name="Text 5"/>
          <p:cNvSpPr/>
          <p:nvPr/>
        </p:nvSpPr>
        <p:spPr>
          <a:xfrm>
            <a:off x="4963902" y="1334095"/>
            <a:ext cx="1466433" cy="114300"/>
          </a:xfrm>
          <a:prstGeom prst="rect">
            <a:avLst/>
          </a:prstGeom>
          <a:noFill/>
          <a:ln/>
        </p:spPr>
        <p:txBody>
          <a:bodyPr wrap="none" rtlCol="0" anchor="ctr"/>
          <a:lstStyle/>
          <a:p>
            <a:pPr algn="ctr" indent="0" marL="0">
              <a:lnSpc>
                <a:spcPct val="110000"/>
              </a:lnSpc>
              <a:buNone/>
            </a:pPr>
            <a:r>
              <a:rPr lang="en-US" sz="675" dirty="0">
                <a:solidFill>
                  <a:srgbClr val="234CD9"/>
                </a:solidFill>
                <a:latin typeface="Montserrat" pitchFamily="34" charset="0"/>
                <a:ea typeface="Montserrat" pitchFamily="34" charset="-122"/>
                <a:cs typeface="Montserrat" pitchFamily="34" charset="-120"/>
              </a:rPr>
              <a:t>Innovative and widely accepted.</a:t>
            </a:r>
            <a:endParaRPr lang="en-US" sz="675" dirty="0"/>
          </a:p>
        </p:txBody>
      </p:sp>
      <p:pic>
        <p:nvPicPr>
          <p:cNvPr id="1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9406" y="519708"/>
            <a:ext cx="1964531" cy="1296591"/>
          </a:xfrm>
          <a:prstGeom prst="rect">
            <a:avLst/>
          </a:prstGeom>
        </p:spPr>
      </p:pic>
      <p:sp>
        <p:nvSpPr>
          <p:cNvPr id="13" name="Shape 6"/>
          <p:cNvSpPr/>
          <p:nvPr/>
        </p:nvSpPr>
        <p:spPr>
          <a:xfrm>
            <a:off x="7490222" y="634008"/>
            <a:ext cx="342900" cy="342900"/>
          </a:xfrm>
          <a:prstGeom prst="rect">
            <a:avLst/>
          </a:prstGeom>
          <a:solidFill>
            <a:srgbClr val="234CD9"/>
          </a:solidFill>
          <a:ln/>
        </p:spPr>
      </p:sp>
      <p:sp>
        <p:nvSpPr>
          <p:cNvPr id="14" name="Text 7"/>
          <p:cNvSpPr/>
          <p:nvPr/>
        </p:nvSpPr>
        <p:spPr>
          <a:xfrm>
            <a:off x="7397353" y="1026914"/>
            <a:ext cx="637356" cy="171450"/>
          </a:xfrm>
          <a:prstGeom prst="rect">
            <a:avLst/>
          </a:prstGeom>
          <a:noFill/>
          <a:ln/>
        </p:spPr>
        <p:txBody>
          <a:bodyPr wrap="none" rtlCol="0" anchor="ctr"/>
          <a:lstStyle/>
          <a:p>
            <a:pPr algn="ctr" indent="0" marL="0">
              <a:lnSpc>
                <a:spcPct val="124000"/>
              </a:lnSpc>
              <a:buNone/>
            </a:pPr>
            <a:r>
              <a:rPr lang="en-US" sz="1013" dirty="0">
                <a:solidFill>
                  <a:srgbClr val="234CD9"/>
                </a:solidFill>
                <a:latin typeface="Montserrat" pitchFamily="34" charset="0"/>
                <a:ea typeface="Montserrat" pitchFamily="34" charset="-122"/>
                <a:cs typeface="Montserrat" pitchFamily="34" charset="-120"/>
              </a:rPr>
              <a:t>Industry</a:t>
            </a:r>
            <a:endParaRPr lang="en-US" sz="1013" dirty="0"/>
          </a:p>
        </p:txBody>
      </p:sp>
      <p:pic>
        <p:nvPicPr>
          <p:cNvPr id="15"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47372" y="1262658"/>
            <a:ext cx="228600" cy="28575"/>
          </a:xfrm>
          <a:prstGeom prst="rect">
            <a:avLst/>
          </a:prstGeom>
        </p:spPr>
      </p:pic>
      <p:sp>
        <p:nvSpPr>
          <p:cNvPr id="16" name="Text 8"/>
          <p:cNvSpPr/>
          <p:nvPr/>
        </p:nvSpPr>
        <p:spPr>
          <a:xfrm>
            <a:off x="6985695" y="1334095"/>
            <a:ext cx="1560195" cy="114300"/>
          </a:xfrm>
          <a:prstGeom prst="rect">
            <a:avLst/>
          </a:prstGeom>
          <a:noFill/>
          <a:ln/>
        </p:spPr>
        <p:txBody>
          <a:bodyPr wrap="none" rtlCol="0" anchor="ctr"/>
          <a:lstStyle/>
          <a:p>
            <a:pPr algn="ctr" indent="0" marL="0">
              <a:lnSpc>
                <a:spcPct val="110000"/>
              </a:lnSpc>
              <a:buNone/>
            </a:pPr>
            <a:r>
              <a:rPr lang="en-US" sz="675" dirty="0">
                <a:solidFill>
                  <a:srgbClr val="234CD9"/>
                </a:solidFill>
                <a:latin typeface="Montserrat" pitchFamily="34" charset="0"/>
                <a:ea typeface="Montserrat" pitchFamily="34" charset="-122"/>
                <a:cs typeface="Montserrat" pitchFamily="34" charset="-120"/>
              </a:rPr>
              <a:t>Based on sound market decisions.</a:t>
            </a:r>
            <a:endParaRPr lang="en-US" sz="6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
        <p:nvSpPr>
          <p:cNvPr id="4" name="Text 1"/>
          <p:cNvSpPr/>
          <p:nvPr/>
        </p:nvSpPr>
        <p:spPr>
          <a:xfrm>
            <a:off x="457200" y="1159073"/>
            <a:ext cx="1803462" cy="457200"/>
          </a:xfrm>
          <a:prstGeom prst="rect">
            <a:avLst/>
          </a:prstGeom>
          <a:noFill/>
          <a:ln/>
        </p:spPr>
        <p:txBody>
          <a:bodyPr wrap="none" rtlCol="0" anchor="ctr"/>
          <a:lstStyle/>
          <a:p>
            <a:pPr algn="l" indent="0" marL="0">
              <a:lnSpc>
                <a:spcPct val="100000"/>
              </a:lnSpc>
              <a:buNone/>
            </a:pPr>
            <a:r>
              <a:rPr lang="en-US" sz="2700" b="1" dirty="0">
                <a:solidFill>
                  <a:srgbClr val="234CD9"/>
                </a:solidFill>
                <a:latin typeface="Montserrat" pitchFamily="34" charset="0"/>
                <a:ea typeface="Montserrat" pitchFamily="34" charset="-122"/>
                <a:cs typeface="Montserrat" pitchFamily="34" charset="-120"/>
              </a:rPr>
              <a:t>Problem</a:t>
            </a:r>
            <a:endParaRPr lang="en-US" sz="2700" dirty="0"/>
          </a:p>
        </p:txBody>
      </p:sp>
      <p:sp>
        <p:nvSpPr>
          <p:cNvPr id="5" name="Text 2"/>
          <p:cNvSpPr/>
          <p:nvPr/>
        </p:nvSpPr>
        <p:spPr>
          <a:xfrm>
            <a:off x="457200" y="2131516"/>
            <a:ext cx="4128266" cy="839837"/>
          </a:xfrm>
          <a:prstGeom prst="rect">
            <a:avLst/>
          </a:prstGeom>
          <a:noFill/>
          <a:ln/>
        </p:spPr>
        <p:txBody>
          <a:bodyPr wrap="square" rtlCol="0" anchor="ctr"/>
          <a:lstStyle/>
          <a:p>
            <a:pPr algn="l" indent="0" marL="0">
              <a:lnSpc>
                <a:spcPct val="130000"/>
              </a:lnSpc>
              <a:buNone/>
            </a:pPr>
            <a:r>
              <a:rPr lang="en-US" sz="1013" dirty="0">
                <a:solidFill>
                  <a:srgbClr val="234CD9"/>
                </a:solidFill>
                <a:latin typeface="Montserrat" pitchFamily="34" charset="0"/>
                <a:ea typeface="Montserrat" pitchFamily="34" charset="-122"/>
                <a:cs typeface="Montserrat" pitchFamily="34" charset="-120"/>
              </a:rPr>
              <a:t>A problem needs to be discussed further and in detail because this problem is the main foundation in the initial development of a product, service, and decision making. Without a well-defined problem, it will have an impact on a job that is unfocused, unmanaged, and less relevant.</a:t>
            </a:r>
            <a:endParaRPr lang="en-US" sz="1013"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29200" y="321469"/>
            <a:ext cx="3657600" cy="839391"/>
          </a:xfrm>
          <a:prstGeom prst="rect">
            <a:avLst/>
          </a:prstGeom>
        </p:spPr>
      </p:pic>
      <p:sp>
        <p:nvSpPr>
          <p:cNvPr id="7" name="Shape 3"/>
          <p:cNvSpPr/>
          <p:nvPr/>
        </p:nvSpPr>
        <p:spPr>
          <a:xfrm>
            <a:off x="5172075" y="464344"/>
            <a:ext cx="342900" cy="342900"/>
          </a:xfrm>
          <a:prstGeom prst="rect">
            <a:avLst/>
          </a:prstGeom>
          <a:solidFill>
            <a:srgbClr val="234CD9"/>
          </a:solidFill>
          <a:ln/>
        </p:spPr>
      </p:sp>
      <p:sp>
        <p:nvSpPr>
          <p:cNvPr id="8" name="Text 4"/>
          <p:cNvSpPr/>
          <p:nvPr/>
        </p:nvSpPr>
        <p:spPr>
          <a:xfrm>
            <a:off x="5657850" y="450056"/>
            <a:ext cx="917191" cy="185738"/>
          </a:xfrm>
          <a:prstGeom prst="rect">
            <a:avLst/>
          </a:prstGeom>
          <a:noFill/>
          <a:ln/>
        </p:spPr>
        <p:txBody>
          <a:bodyPr wrap="none" rtlCol="0" anchor="ctr"/>
          <a:lstStyle/>
          <a:p>
            <a:pPr algn="l" indent="0" marL="0">
              <a:lnSpc>
                <a:spcPct val="112000"/>
              </a:lnSpc>
              <a:buNone/>
            </a:pPr>
            <a:r>
              <a:rPr lang="en-US" sz="1125" dirty="0">
                <a:solidFill>
                  <a:srgbClr val="234CD9"/>
                </a:solidFill>
                <a:latin typeface="Montserrat" pitchFamily="34" charset="0"/>
                <a:ea typeface="Montserrat" pitchFamily="34" charset="-122"/>
                <a:cs typeface="Montserrat" pitchFamily="34" charset="-120"/>
              </a:rPr>
              <a:t>Inefficiency</a:t>
            </a:r>
            <a:endParaRPr lang="en-US" sz="1125" dirty="0"/>
          </a:p>
        </p:txBody>
      </p:sp>
      <p:sp>
        <p:nvSpPr>
          <p:cNvPr id="9" name="Text 5"/>
          <p:cNvSpPr/>
          <p:nvPr/>
        </p:nvSpPr>
        <p:spPr>
          <a:xfrm>
            <a:off x="5657850" y="685800"/>
            <a:ext cx="2970746" cy="265658"/>
          </a:xfrm>
          <a:prstGeom prst="rect">
            <a:avLst/>
          </a:prstGeom>
          <a:noFill/>
          <a:ln/>
        </p:spPr>
        <p:txBody>
          <a:bodyPr wrap="square" rtlCol="0" anchor="ctr"/>
          <a:lstStyle/>
          <a:p>
            <a:pPr algn="l" indent="0" marL="0">
              <a:lnSpc>
                <a:spcPct val="130000"/>
              </a:lnSpc>
              <a:buNone/>
            </a:pPr>
            <a:r>
              <a:rPr lang="en-US" sz="788" dirty="0">
                <a:solidFill>
                  <a:srgbClr val="234CD9"/>
                </a:solidFill>
                <a:latin typeface="Montserrat" pitchFamily="34" charset="0"/>
                <a:ea typeface="Montserrat" pitchFamily="34" charset="-122"/>
                <a:cs typeface="Montserrat" pitchFamily="34" charset="-120"/>
              </a:rPr>
              <a:t>Businesses struggle to find digital tools that meet their needs, causing operational slowdowns.</a:t>
            </a:r>
            <a:endParaRPr lang="en-US" sz="788"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29200" y="1389459"/>
            <a:ext cx="3657600" cy="839391"/>
          </a:xfrm>
          <a:prstGeom prst="rect">
            <a:avLst/>
          </a:prstGeom>
        </p:spPr>
      </p:pic>
      <p:sp>
        <p:nvSpPr>
          <p:cNvPr id="11" name="Shape 6"/>
          <p:cNvSpPr/>
          <p:nvPr/>
        </p:nvSpPr>
        <p:spPr>
          <a:xfrm>
            <a:off x="5172075" y="1532334"/>
            <a:ext cx="342900" cy="342900"/>
          </a:xfrm>
          <a:prstGeom prst="rect">
            <a:avLst/>
          </a:prstGeom>
          <a:solidFill>
            <a:srgbClr val="234CD9"/>
          </a:solidFill>
          <a:ln/>
        </p:spPr>
      </p:sp>
      <p:sp>
        <p:nvSpPr>
          <p:cNvPr id="12" name="Text 7"/>
          <p:cNvSpPr/>
          <p:nvPr/>
        </p:nvSpPr>
        <p:spPr>
          <a:xfrm>
            <a:off x="5657850" y="1518047"/>
            <a:ext cx="885044" cy="185738"/>
          </a:xfrm>
          <a:prstGeom prst="rect">
            <a:avLst/>
          </a:prstGeom>
          <a:noFill/>
          <a:ln/>
        </p:spPr>
        <p:txBody>
          <a:bodyPr wrap="none" rtlCol="0" anchor="ctr"/>
          <a:lstStyle/>
          <a:p>
            <a:pPr algn="l" indent="0" marL="0">
              <a:lnSpc>
                <a:spcPct val="112000"/>
              </a:lnSpc>
              <a:buNone/>
            </a:pPr>
            <a:r>
              <a:rPr lang="en-US" sz="1125" dirty="0">
                <a:solidFill>
                  <a:srgbClr val="234CD9"/>
                </a:solidFill>
                <a:latin typeface="Montserrat" pitchFamily="34" charset="0"/>
                <a:ea typeface="Montserrat" pitchFamily="34" charset="-122"/>
                <a:cs typeface="Montserrat" pitchFamily="34" charset="-120"/>
              </a:rPr>
              <a:t>High Costs</a:t>
            </a:r>
            <a:endParaRPr lang="en-US" sz="1125" dirty="0"/>
          </a:p>
        </p:txBody>
      </p:sp>
      <p:sp>
        <p:nvSpPr>
          <p:cNvPr id="13" name="Text 8"/>
          <p:cNvSpPr/>
          <p:nvPr/>
        </p:nvSpPr>
        <p:spPr>
          <a:xfrm>
            <a:off x="5657850" y="1753791"/>
            <a:ext cx="3254907" cy="265658"/>
          </a:xfrm>
          <a:prstGeom prst="rect">
            <a:avLst/>
          </a:prstGeom>
          <a:noFill/>
          <a:ln/>
        </p:spPr>
        <p:txBody>
          <a:bodyPr wrap="square" rtlCol="0" anchor="ctr"/>
          <a:lstStyle/>
          <a:p>
            <a:pPr algn="l" indent="0" marL="0">
              <a:lnSpc>
                <a:spcPct val="130000"/>
              </a:lnSpc>
              <a:buNone/>
            </a:pPr>
            <a:r>
              <a:rPr lang="en-US" sz="788" dirty="0">
                <a:solidFill>
                  <a:srgbClr val="234CD9"/>
                </a:solidFill>
                <a:latin typeface="Montserrat" pitchFamily="34" charset="0"/>
                <a:ea typeface="Montserrat" pitchFamily="34" charset="-122"/>
                <a:cs typeface="Montserrat" pitchFamily="34" charset="-120"/>
              </a:rPr>
              <a:t>Outdated systems increase expenses, while small businesses struggle to expand their market reach.</a:t>
            </a:r>
            <a:endParaRPr lang="en-US" sz="788"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29200" y="2457450"/>
            <a:ext cx="3657600" cy="839391"/>
          </a:xfrm>
          <a:prstGeom prst="rect">
            <a:avLst/>
          </a:prstGeom>
        </p:spPr>
      </p:pic>
      <p:sp>
        <p:nvSpPr>
          <p:cNvPr id="15" name="Shape 9"/>
          <p:cNvSpPr/>
          <p:nvPr/>
        </p:nvSpPr>
        <p:spPr>
          <a:xfrm>
            <a:off x="5172075" y="2600325"/>
            <a:ext cx="342900" cy="342900"/>
          </a:xfrm>
          <a:prstGeom prst="rect">
            <a:avLst/>
          </a:prstGeom>
          <a:solidFill>
            <a:srgbClr val="234CD9"/>
          </a:solidFill>
          <a:ln/>
        </p:spPr>
      </p:sp>
      <p:sp>
        <p:nvSpPr>
          <p:cNvPr id="16" name="Text 10"/>
          <p:cNvSpPr/>
          <p:nvPr/>
        </p:nvSpPr>
        <p:spPr>
          <a:xfrm>
            <a:off x="5657850" y="2586038"/>
            <a:ext cx="917191" cy="185738"/>
          </a:xfrm>
          <a:prstGeom prst="rect">
            <a:avLst/>
          </a:prstGeom>
          <a:noFill/>
          <a:ln/>
        </p:spPr>
        <p:txBody>
          <a:bodyPr wrap="none" rtlCol="0" anchor="ctr"/>
          <a:lstStyle/>
          <a:p>
            <a:pPr algn="l" indent="0" marL="0">
              <a:lnSpc>
                <a:spcPct val="112000"/>
              </a:lnSpc>
              <a:buNone/>
            </a:pPr>
            <a:r>
              <a:rPr lang="en-US" sz="1125" dirty="0">
                <a:solidFill>
                  <a:srgbClr val="234CD9"/>
                </a:solidFill>
                <a:latin typeface="Montserrat" pitchFamily="34" charset="0"/>
                <a:ea typeface="Montserrat" pitchFamily="34" charset="-122"/>
                <a:cs typeface="Montserrat" pitchFamily="34" charset="-120"/>
              </a:rPr>
              <a:t>Inefficiency</a:t>
            </a:r>
            <a:endParaRPr lang="en-US" sz="1125" dirty="0"/>
          </a:p>
        </p:txBody>
      </p:sp>
      <p:sp>
        <p:nvSpPr>
          <p:cNvPr id="17" name="Text 11"/>
          <p:cNvSpPr/>
          <p:nvPr/>
        </p:nvSpPr>
        <p:spPr>
          <a:xfrm>
            <a:off x="5657850" y="2821781"/>
            <a:ext cx="2970746" cy="265658"/>
          </a:xfrm>
          <a:prstGeom prst="rect">
            <a:avLst/>
          </a:prstGeom>
          <a:noFill/>
          <a:ln/>
        </p:spPr>
        <p:txBody>
          <a:bodyPr wrap="square" rtlCol="0" anchor="ctr"/>
          <a:lstStyle/>
          <a:p>
            <a:pPr algn="l" indent="0" marL="0">
              <a:lnSpc>
                <a:spcPct val="130000"/>
              </a:lnSpc>
              <a:buNone/>
            </a:pPr>
            <a:r>
              <a:rPr lang="en-US" sz="788" dirty="0">
                <a:solidFill>
                  <a:srgbClr val="234CD9"/>
                </a:solidFill>
                <a:latin typeface="Montserrat" pitchFamily="34" charset="0"/>
                <a:ea typeface="Montserrat" pitchFamily="34" charset="-122"/>
                <a:cs typeface="Montserrat" pitchFamily="34" charset="-120"/>
              </a:rPr>
              <a:t>Businesses struggle to find digital tools that meet their needs, causing operational slowdowns.</a:t>
            </a:r>
            <a:endParaRPr lang="en-US" sz="788" dirty="0"/>
          </a:p>
        </p:txBody>
      </p:sp>
      <p:pic>
        <p:nvPicPr>
          <p:cNvPr id="1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29200" y="3525441"/>
            <a:ext cx="3657600" cy="839391"/>
          </a:xfrm>
          <a:prstGeom prst="rect">
            <a:avLst/>
          </a:prstGeom>
        </p:spPr>
      </p:pic>
      <p:sp>
        <p:nvSpPr>
          <p:cNvPr id="19" name="Shape 12"/>
          <p:cNvSpPr/>
          <p:nvPr/>
        </p:nvSpPr>
        <p:spPr>
          <a:xfrm>
            <a:off x="5172075" y="3668316"/>
            <a:ext cx="342900" cy="342900"/>
          </a:xfrm>
          <a:prstGeom prst="rect">
            <a:avLst/>
          </a:prstGeom>
          <a:solidFill>
            <a:srgbClr val="234CD9"/>
          </a:solidFill>
          <a:ln/>
        </p:spPr>
      </p:sp>
      <p:sp>
        <p:nvSpPr>
          <p:cNvPr id="20" name="Text 13"/>
          <p:cNvSpPr/>
          <p:nvPr/>
        </p:nvSpPr>
        <p:spPr>
          <a:xfrm>
            <a:off x="5657850" y="3654028"/>
            <a:ext cx="917191" cy="185738"/>
          </a:xfrm>
          <a:prstGeom prst="rect">
            <a:avLst/>
          </a:prstGeom>
          <a:noFill/>
          <a:ln/>
        </p:spPr>
        <p:txBody>
          <a:bodyPr wrap="none" rtlCol="0" anchor="ctr"/>
          <a:lstStyle/>
          <a:p>
            <a:pPr algn="l" indent="0" marL="0">
              <a:lnSpc>
                <a:spcPct val="112000"/>
              </a:lnSpc>
              <a:buNone/>
            </a:pPr>
            <a:r>
              <a:rPr lang="en-US" sz="1125" dirty="0">
                <a:solidFill>
                  <a:srgbClr val="234CD9"/>
                </a:solidFill>
                <a:latin typeface="Montserrat" pitchFamily="34" charset="0"/>
                <a:ea typeface="Montserrat" pitchFamily="34" charset="-122"/>
                <a:cs typeface="Montserrat" pitchFamily="34" charset="-120"/>
              </a:rPr>
              <a:t>Inefficiency</a:t>
            </a:r>
            <a:endParaRPr lang="en-US" sz="1125" dirty="0"/>
          </a:p>
        </p:txBody>
      </p:sp>
      <p:sp>
        <p:nvSpPr>
          <p:cNvPr id="21" name="Text 14"/>
          <p:cNvSpPr/>
          <p:nvPr/>
        </p:nvSpPr>
        <p:spPr>
          <a:xfrm>
            <a:off x="5657850" y="3889772"/>
            <a:ext cx="2970746" cy="265658"/>
          </a:xfrm>
          <a:prstGeom prst="rect">
            <a:avLst/>
          </a:prstGeom>
          <a:noFill/>
          <a:ln/>
        </p:spPr>
        <p:txBody>
          <a:bodyPr wrap="square" rtlCol="0" anchor="ctr"/>
          <a:lstStyle/>
          <a:p>
            <a:pPr algn="l" indent="0" marL="0">
              <a:lnSpc>
                <a:spcPct val="130000"/>
              </a:lnSpc>
              <a:buNone/>
            </a:pPr>
            <a:r>
              <a:rPr lang="en-US" sz="788" dirty="0">
                <a:solidFill>
                  <a:srgbClr val="234CD9"/>
                </a:solidFill>
                <a:latin typeface="Montserrat" pitchFamily="34" charset="0"/>
                <a:ea typeface="Montserrat" pitchFamily="34" charset="-122"/>
                <a:cs typeface="Montserrat" pitchFamily="34" charset="-120"/>
              </a:rPr>
              <a:t>Businesses struggle to find digital tools that meet their needs, causing operational slowdowns.</a:t>
            </a:r>
            <a:endParaRPr lang="en-US" sz="788" dirty="0"/>
          </a:p>
        </p:txBody>
      </p:sp>
      <p:pic>
        <p:nvPicPr>
          <p:cNvPr id="2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0" y="5114925"/>
            <a:ext cx="9144000" cy="285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5114925"/>
            <a:ext cx="9144000" cy="28575"/>
          </a:xfrm>
          <a:prstGeom prst="rect">
            <a:avLst/>
          </a:prstGeom>
        </p:spPr>
      </p:pic>
      <p:sp>
        <p:nvSpPr>
          <p:cNvPr id="5" name="Text 1"/>
          <p:cNvSpPr/>
          <p:nvPr/>
        </p:nvSpPr>
        <p:spPr>
          <a:xfrm>
            <a:off x="506202" y="1548185"/>
            <a:ext cx="3745843" cy="457200"/>
          </a:xfrm>
          <a:prstGeom prst="rect">
            <a:avLst/>
          </a:prstGeom>
          <a:noFill/>
          <a:ln/>
        </p:spPr>
        <p:txBody>
          <a:bodyPr wrap="none" rtlCol="0" anchor="ctr"/>
          <a:lstStyle/>
          <a:p>
            <a:pPr algn="l" indent="0" marL="0">
              <a:lnSpc>
                <a:spcPct val="100000"/>
              </a:lnSpc>
              <a:buNone/>
            </a:pPr>
            <a:r>
              <a:rPr lang="en-US" sz="2700" b="1" dirty="0">
                <a:solidFill>
                  <a:srgbClr val="234CD9"/>
                </a:solidFill>
                <a:latin typeface="Montserrat" pitchFamily="34" charset="0"/>
                <a:ea typeface="Montserrat" pitchFamily="34" charset="-122"/>
                <a:cs typeface="Montserrat" pitchFamily="34" charset="-120"/>
              </a:rPr>
              <a:t>Data Table or Chart</a:t>
            </a:r>
            <a:endParaRPr lang="en-US" sz="2700" dirty="0"/>
          </a:p>
        </p:txBody>
      </p:sp>
      <p:sp>
        <p:nvSpPr>
          <p:cNvPr id="6" name="Text 2"/>
          <p:cNvSpPr/>
          <p:nvPr/>
        </p:nvSpPr>
        <p:spPr>
          <a:xfrm>
            <a:off x="506202" y="2569741"/>
            <a:ext cx="3837480" cy="298586"/>
          </a:xfrm>
          <a:prstGeom prst="rect">
            <a:avLst/>
          </a:prstGeom>
          <a:noFill/>
          <a:ln/>
        </p:spPr>
        <p:txBody>
          <a:bodyPr wrap="square" rtlCol="0" anchor="ctr"/>
          <a:lstStyle/>
          <a:p>
            <a:pPr algn="l" indent="0" marL="0">
              <a:lnSpc>
                <a:spcPct val="130000"/>
              </a:lnSpc>
              <a:buNone/>
            </a:pPr>
            <a:r>
              <a:rPr lang="en-US" sz="900" dirty="0">
                <a:solidFill>
                  <a:srgbClr val="234CD9"/>
                </a:solidFill>
                <a:latin typeface="Montserrat" pitchFamily="34" charset="0"/>
                <a:ea typeface="Montserrat" pitchFamily="34" charset="-122"/>
                <a:cs typeface="Montserrat" pitchFamily="34" charset="-120"/>
              </a:rPr>
              <a:t>Present structured information in a flexible table or visualize it with a chart.</a:t>
            </a:r>
            <a:endParaRPr lang="en-US" sz="90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07471" y="898773"/>
            <a:ext cx="4279218" cy="32213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
        <p:nvSpPr>
          <p:cNvPr id="4" name="Text 1"/>
          <p:cNvSpPr/>
          <p:nvPr/>
        </p:nvSpPr>
        <p:spPr>
          <a:xfrm>
            <a:off x="457200" y="398264"/>
            <a:ext cx="2365139" cy="457200"/>
          </a:xfrm>
          <a:prstGeom prst="rect">
            <a:avLst/>
          </a:prstGeom>
          <a:noFill/>
          <a:ln/>
        </p:spPr>
        <p:txBody>
          <a:bodyPr wrap="none" rtlCol="0" anchor="ctr"/>
          <a:lstStyle/>
          <a:p>
            <a:pPr algn="l" indent="0" marL="0">
              <a:lnSpc>
                <a:spcPct val="100000"/>
              </a:lnSpc>
              <a:buNone/>
            </a:pPr>
            <a:r>
              <a:rPr lang="en-US" sz="2700" b="1" dirty="0">
                <a:solidFill>
                  <a:srgbClr val="1E4CD9"/>
                </a:solidFill>
                <a:latin typeface="Montserrat" pitchFamily="34" charset="0"/>
                <a:ea typeface="Montserrat" pitchFamily="34" charset="-122"/>
                <a:cs typeface="Montserrat" pitchFamily="34" charset="-120"/>
              </a:rPr>
              <a:t>Market Size</a:t>
            </a:r>
            <a:endParaRPr lang="en-US" sz="270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200" y="1112639"/>
            <a:ext cx="3721447" cy="1571625"/>
          </a:xfrm>
          <a:prstGeom prst="rect">
            <a:avLst/>
          </a:prstGeom>
        </p:spPr>
      </p:pic>
      <p:pic>
        <p:nvPicPr>
          <p:cNvPr id="6" name="Image 2" descr="E:\AImoney\NovaWay-Matrix\novaway-coder\.tmp\presenton-pptx-deck\modern\assets\images\replaceable_template_image.png">    </p:cNvPr>
          <p:cNvPicPr>
            <a:picLocks noChangeAspect="1"/>
          </p:cNvPicPr>
          <p:nvPr/>
        </p:nvPicPr>
        <p:blipFill>
          <a:blip r:embed="rId5"/>
          <a:srcRect l="0" r="0" t="12461" b="12461"/>
          <a:stretch/>
        </p:blipFill>
        <p:spPr>
          <a:xfrm>
            <a:off x="457200" y="1112639"/>
            <a:ext cx="3721447" cy="1571625"/>
          </a:xfrm>
          <a:prstGeom prst="rect">
            <a:avLst/>
          </a:prstGeom>
        </p:spPr>
      </p:pic>
      <p:sp>
        <p:nvSpPr>
          <p:cNvPr id="7" name="Text 2"/>
          <p:cNvSpPr/>
          <p:nvPr/>
        </p:nvSpPr>
        <p:spPr>
          <a:xfrm>
            <a:off x="457200" y="2905720"/>
            <a:ext cx="4023378" cy="785366"/>
          </a:xfrm>
          <a:prstGeom prst="rect">
            <a:avLst/>
          </a:prstGeom>
          <a:noFill/>
          <a:ln/>
        </p:spPr>
        <p:txBody>
          <a:bodyPr wrap="square" rtlCol="0" anchor="ctr"/>
          <a:lstStyle/>
          <a:p>
            <a:pPr algn="l" indent="0" marL="0">
              <a:lnSpc>
                <a:spcPct val="130000"/>
              </a:lnSpc>
              <a:buNone/>
            </a:pPr>
            <a:r>
              <a:rPr lang="en-US" sz="788" dirty="0">
                <a:solidFill>
                  <a:srgbClr val="234CD9"/>
                </a:solidFill>
                <a:latin typeface="Montserrat" pitchFamily="34" charset="0"/>
                <a:ea typeface="Montserrat" pitchFamily="34" charset="-122"/>
                <a:cs typeface="Montserrat" pitchFamily="34" charset="-120"/>
              </a:rPr>
              <a:t>Market size is the total amount of all sales and customers that can be seen directly by stakeholders. This technique is usually calculated at the end of the year, the market size can be used by companies to determine the potential of their market and business in the future. This is very useful, especially for new companies that will offer services to those who are interested in our services.</a:t>
            </a:r>
            <a:endParaRPr lang="en-US" sz="788"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584055" y="422374"/>
            <a:ext cx="1629556" cy="200025"/>
          </a:xfrm>
          <a:prstGeom prst="rect">
            <a:avLst/>
          </a:prstGeom>
        </p:spPr>
      </p:pic>
      <p:sp>
        <p:nvSpPr>
          <p:cNvPr id="9" name="Text 3"/>
          <p:cNvSpPr/>
          <p:nvPr/>
        </p:nvSpPr>
        <p:spPr>
          <a:xfrm>
            <a:off x="4669780" y="451061"/>
            <a:ext cx="1533317" cy="135731"/>
          </a:xfrm>
          <a:prstGeom prst="rect">
            <a:avLst/>
          </a:prstGeom>
          <a:noFill/>
          <a:ln/>
        </p:spPr>
        <p:txBody>
          <a:bodyPr wrap="none" rtlCol="0" anchor="ctr"/>
          <a:lstStyle/>
          <a:p>
            <a:pPr algn="l" indent="0" marL="0">
              <a:lnSpc>
                <a:spcPct val="114000"/>
              </a:lnSpc>
              <a:buNone/>
            </a:pPr>
            <a:r>
              <a:rPr lang="en-US" sz="788" dirty="0">
                <a:solidFill>
                  <a:srgbClr val="FFFFFF"/>
                </a:solidFill>
                <a:latin typeface="Montserrat" pitchFamily="34" charset="0"/>
                <a:ea typeface="Montserrat" pitchFamily="34" charset="-122"/>
                <a:cs typeface="Montserrat" pitchFamily="34" charset="-120"/>
              </a:rPr>
              <a:t>Total Available Market (TAM)</a:t>
            </a:r>
            <a:endParaRPr lang="en-US" sz="788" dirty="0"/>
          </a:p>
        </p:txBody>
      </p:sp>
      <p:sp>
        <p:nvSpPr>
          <p:cNvPr id="10" name="Text 4"/>
          <p:cNvSpPr/>
          <p:nvPr/>
        </p:nvSpPr>
        <p:spPr>
          <a:xfrm>
            <a:off x="4584055" y="658118"/>
            <a:ext cx="1026914" cy="221456"/>
          </a:xfrm>
          <a:prstGeom prst="rect">
            <a:avLst/>
          </a:prstGeom>
          <a:noFill/>
          <a:ln/>
        </p:spPr>
        <p:txBody>
          <a:bodyPr wrap="none" rtlCol="0" anchor="ctr"/>
          <a:lstStyle/>
          <a:p>
            <a:pPr algn="l" indent="0" marL="0">
              <a:lnSpc>
                <a:spcPct val="107000"/>
              </a:lnSpc>
              <a:buNone/>
            </a:pPr>
            <a:r>
              <a:rPr lang="en-US" sz="1350" b="1" dirty="0">
                <a:solidFill>
                  <a:srgbClr val="1E4CD9"/>
                </a:solidFill>
                <a:latin typeface="Montserrat" pitchFamily="34" charset="0"/>
                <a:ea typeface="Montserrat" pitchFamily="34" charset="-122"/>
                <a:cs typeface="Montserrat" pitchFamily="34" charset="-120"/>
              </a:rPr>
              <a:t>1.4 Billion</a:t>
            </a:r>
            <a:endParaRPr lang="en-US" sz="1350" dirty="0"/>
          </a:p>
        </p:txBody>
      </p:sp>
      <p:sp>
        <p:nvSpPr>
          <p:cNvPr id="11" name="Text 5"/>
          <p:cNvSpPr/>
          <p:nvPr/>
        </p:nvSpPr>
        <p:spPr>
          <a:xfrm>
            <a:off x="4584055" y="893862"/>
            <a:ext cx="4781598" cy="245678"/>
          </a:xfrm>
          <a:prstGeom prst="rect">
            <a:avLst/>
          </a:prstGeom>
          <a:noFill/>
          <a:ln/>
        </p:spPr>
        <p:txBody>
          <a:bodyPr wrap="square" rtlCol="0" anchor="ctr"/>
          <a:lstStyle/>
          <a:p>
            <a:pPr algn="l" indent="0" marL="0">
              <a:lnSpc>
                <a:spcPct val="110000"/>
              </a:lnSpc>
              <a:buNone/>
            </a:pPr>
            <a:r>
              <a:rPr lang="en-US" sz="788" dirty="0">
                <a:solidFill>
                  <a:srgbClr val="334155"/>
                </a:solidFill>
                <a:latin typeface="Montserrat" pitchFamily="34" charset="0"/>
                <a:ea typeface="Montserrat" pitchFamily="34" charset="-122"/>
                <a:cs typeface="Montserrat" pitchFamily="34" charset="-120"/>
              </a:rPr>
              <a:t>In the TAM Section, we can fill in the potential of any person who can buy an offer or the maximum amount of revenue a business can earn by selling their offer.</a:t>
            </a:r>
            <a:endParaRPr lang="en-US" sz="788" dirty="0"/>
          </a:p>
        </p:txBody>
      </p:sp>
      <p:pic>
        <p:nvPicPr>
          <p:cNvPr id="12"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84055" y="1468934"/>
            <a:ext cx="1981163" cy="200025"/>
          </a:xfrm>
          <a:prstGeom prst="rect">
            <a:avLst/>
          </a:prstGeom>
        </p:spPr>
      </p:pic>
      <p:sp>
        <p:nvSpPr>
          <p:cNvPr id="13" name="Text 6"/>
          <p:cNvSpPr/>
          <p:nvPr/>
        </p:nvSpPr>
        <p:spPr>
          <a:xfrm>
            <a:off x="4669780" y="1497620"/>
            <a:ext cx="1897487" cy="135731"/>
          </a:xfrm>
          <a:prstGeom prst="rect">
            <a:avLst/>
          </a:prstGeom>
          <a:noFill/>
          <a:ln/>
        </p:spPr>
        <p:txBody>
          <a:bodyPr wrap="none" rtlCol="0" anchor="ctr"/>
          <a:lstStyle/>
          <a:p>
            <a:pPr algn="l" indent="0" marL="0">
              <a:lnSpc>
                <a:spcPct val="114000"/>
              </a:lnSpc>
              <a:buNone/>
            </a:pPr>
            <a:r>
              <a:rPr lang="en-US" sz="788" dirty="0">
                <a:solidFill>
                  <a:srgbClr val="FFFFFF"/>
                </a:solidFill>
                <a:latin typeface="Montserrat" pitchFamily="34" charset="0"/>
                <a:ea typeface="Montserrat" pitchFamily="34" charset="-122"/>
                <a:cs typeface="Montserrat" pitchFamily="34" charset="-120"/>
              </a:rPr>
              <a:t>Serviceable Available Market (SAM)</a:t>
            </a:r>
            <a:endParaRPr lang="en-US" sz="788" dirty="0"/>
          </a:p>
        </p:txBody>
      </p:sp>
      <p:sp>
        <p:nvSpPr>
          <p:cNvPr id="14" name="Text 7"/>
          <p:cNvSpPr/>
          <p:nvPr/>
        </p:nvSpPr>
        <p:spPr>
          <a:xfrm>
            <a:off x="4584055" y="1704677"/>
            <a:ext cx="1142777" cy="221456"/>
          </a:xfrm>
          <a:prstGeom prst="rect">
            <a:avLst/>
          </a:prstGeom>
          <a:noFill/>
          <a:ln/>
        </p:spPr>
        <p:txBody>
          <a:bodyPr wrap="none" rtlCol="0" anchor="ctr"/>
          <a:lstStyle/>
          <a:p>
            <a:pPr algn="l" indent="0" marL="0">
              <a:lnSpc>
                <a:spcPct val="107000"/>
              </a:lnSpc>
              <a:buNone/>
            </a:pPr>
            <a:r>
              <a:rPr lang="en-US" sz="1350" b="1" dirty="0">
                <a:solidFill>
                  <a:srgbClr val="1E4CD9"/>
                </a:solidFill>
                <a:latin typeface="Montserrat" pitchFamily="34" charset="0"/>
                <a:ea typeface="Montserrat" pitchFamily="34" charset="-122"/>
                <a:cs typeface="Montserrat" pitchFamily="34" charset="-120"/>
              </a:rPr>
              <a:t>194 Million</a:t>
            </a:r>
            <a:endParaRPr lang="en-US" sz="1350" dirty="0"/>
          </a:p>
        </p:txBody>
      </p:sp>
      <p:sp>
        <p:nvSpPr>
          <p:cNvPr id="15" name="Text 8"/>
          <p:cNvSpPr/>
          <p:nvPr/>
        </p:nvSpPr>
        <p:spPr>
          <a:xfrm>
            <a:off x="4584055" y="1940421"/>
            <a:ext cx="4720590" cy="245678"/>
          </a:xfrm>
          <a:prstGeom prst="rect">
            <a:avLst/>
          </a:prstGeom>
          <a:noFill/>
          <a:ln/>
        </p:spPr>
        <p:txBody>
          <a:bodyPr wrap="square" rtlCol="0" anchor="ctr"/>
          <a:lstStyle/>
          <a:p>
            <a:pPr algn="l" indent="0" marL="0">
              <a:lnSpc>
                <a:spcPct val="110000"/>
              </a:lnSpc>
              <a:buNone/>
            </a:pPr>
            <a:r>
              <a:rPr lang="en-US" sz="788" dirty="0">
                <a:solidFill>
                  <a:srgbClr val="334155"/>
                </a:solidFill>
                <a:latin typeface="Montserrat" pitchFamily="34" charset="0"/>
                <a:ea typeface="Montserrat" pitchFamily="34" charset="-122"/>
                <a:cs typeface="Montserrat" pitchFamily="34" charset="-120"/>
              </a:rPr>
              <a:t>It is a part of TAM that has the potential to become a target market for the company by considering the type of product, technology available and geographical conditions.</a:t>
            </a:r>
            <a:endParaRPr lang="en-US" sz="788"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2026-08-12T08:38:20Z</dcterms:created>
  <dcterms:modified xsi:type="dcterms:W3CDTF">2026-08-12T08:38:20Z</dcterms:modified>
</cp:coreProperties>
</file>