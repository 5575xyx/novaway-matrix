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7.png"/><Relationship Id="rId9" Type="http://schemas.openxmlformats.org/officeDocument/2006/relationships/image" Target="../media/image-1-9.png"/><Relationship Id="rId10" Type="http://schemas.openxmlformats.org/officeDocument/2006/relationships/image" Target="../media/image-1-7.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36947" y="-133499"/>
            <a:ext cx="9320138" cy="5276999"/>
          </a:xfrm>
          <a:prstGeom prst="rect">
            <a:avLst/>
          </a:prstGeom>
        </p:spPr>
      </p:pic>
      <p:pic>
        <p:nvPicPr>
          <p:cNvPr id="4" name="Image 1" descr="preencoded.png">    </p:cNvPr>
          <p:cNvPicPr>
            <a:picLocks noChangeAspect="1"/>
          </p:cNvPicPr>
          <p:nvPr/>
        </p:nvPicPr>
        <p:blipFill>
          <a:blip r:embed="rId2"/>
          <a:stretch>
            <a:fillRect/>
          </a:stretch>
        </p:blipFill>
        <p:spPr>
          <a:xfrm>
            <a:off x="-6720296" y="246619"/>
            <a:ext cx="13601885" cy="8146793"/>
          </a:xfrm>
          <a:prstGeom prst="rect">
            <a:avLst/>
          </a:prstGeom>
        </p:spPr>
      </p:pic>
      <p:sp>
        <p:nvSpPr>
          <p:cNvPr id="5" name="Text 1"/>
          <p:cNvSpPr/>
          <p:nvPr/>
        </p:nvSpPr>
        <p:spPr>
          <a:xfrm>
            <a:off x="581769" y="1554100"/>
            <a:ext cx="2900304" cy="922772"/>
          </a:xfrm>
          <a:prstGeom prst="rect">
            <a:avLst/>
          </a:prstGeom>
          <a:noFill/>
          <a:ln/>
        </p:spPr>
        <p:txBody>
          <a:bodyPr wrap="square" rtlCol="0" anchor="ctr"/>
          <a:lstStyle/>
          <a:p>
            <a:pPr algn="l" indent="0" marL="0">
              <a:lnSpc>
                <a:spcPct val="111000"/>
              </a:lnSpc>
              <a:buNone/>
            </a:pPr>
            <a:r>
              <a:rPr lang="en-US" sz="2999" b="1" spc="44" kern="0" dirty="0">
                <a:solidFill>
                  <a:srgbClr val="FFFFFF"/>
                </a:solidFill>
                <a:latin typeface="DM Sans Bold" pitchFamily="34" charset="0"/>
                <a:ea typeface="DM Sans Bold" pitchFamily="34" charset="-122"/>
                <a:cs typeface="DM Sans Bold" pitchFamily="34" charset="-120"/>
              </a:rPr>
              <a:t>ESG Performance</a:t>
            </a:r>
            <a:endParaRPr lang="en-US" sz="2999" dirty="0"/>
          </a:p>
        </p:txBody>
      </p:sp>
      <p:sp>
        <p:nvSpPr>
          <p:cNvPr id="6" name="Text 2"/>
          <p:cNvSpPr/>
          <p:nvPr/>
        </p:nvSpPr>
        <p:spPr>
          <a:xfrm>
            <a:off x="582327" y="1903028"/>
            <a:ext cx="3147786" cy="969876"/>
          </a:xfrm>
          <a:prstGeom prst="rect">
            <a:avLst/>
          </a:prstGeom>
          <a:noFill/>
          <a:ln/>
        </p:spPr>
        <p:txBody>
          <a:bodyPr wrap="square" rtlCol="0" anchor="ctr"/>
          <a:lstStyle/>
          <a:p>
            <a:pPr algn="l" indent="0" marL="0">
              <a:lnSpc>
                <a:spcPct val="95000"/>
              </a:lnSpc>
              <a:buNone/>
            </a:pPr>
            <a:r>
              <a:rPr lang="en-US" sz="3362" b="1" i="1" spc="50" kern="0" dirty="0">
                <a:solidFill>
                  <a:srgbClr val="FFFFFF"/>
                </a:solidFill>
                <a:latin typeface="Playfair Display Semi-Bold Italics" pitchFamily="34" charset="0"/>
                <a:ea typeface="Playfair Display Semi-Bold Italics" pitchFamily="34" charset="-122"/>
                <a:cs typeface="Playfair Display Semi-Bold Italics" pitchFamily="34" charset="-120"/>
              </a:rPr>
              <a:t>Annual Report 2026</a:t>
            </a:r>
            <a:endParaRPr lang="en-US" sz="3362" dirty="0"/>
          </a:p>
        </p:txBody>
      </p:sp>
      <p:sp>
        <p:nvSpPr>
          <p:cNvPr id="7" name="Text 3"/>
          <p:cNvSpPr/>
          <p:nvPr/>
        </p:nvSpPr>
        <p:spPr>
          <a:xfrm>
            <a:off x="581769" y="3028392"/>
            <a:ext cx="2858357" cy="352276"/>
          </a:xfrm>
          <a:prstGeom prst="rect">
            <a:avLst/>
          </a:prstGeom>
          <a:noFill/>
          <a:ln/>
        </p:spPr>
        <p:txBody>
          <a:bodyPr wrap="square" rtlCol="0" anchor="ctr"/>
          <a:lstStyle/>
          <a:p>
            <a:pPr algn="l" indent="0" marL="0">
              <a:lnSpc>
                <a:spcPct val="119000"/>
              </a:lnSpc>
              <a:buNone/>
            </a:pPr>
            <a:r>
              <a:rPr lang="en-US" sz="1102" spc="16" kern="0" dirty="0">
                <a:solidFill>
                  <a:srgbClr val="FFFFFF"/>
                </a:solidFill>
                <a:latin typeface="DM Sans" pitchFamily="34" charset="0"/>
                <a:ea typeface="DM Sans" pitchFamily="34" charset="-122"/>
                <a:cs typeface="DM Sans" pitchFamily="34" charset="-120"/>
              </a:rPr>
              <a:t>Driving Sustainable Growth Through Responsible Leadership
</a:t>
            </a:r>
            <a:endParaRPr lang="en-US" sz="1102" dirty="0"/>
          </a:p>
        </p:txBody>
      </p:sp>
      <p:pic>
        <p:nvPicPr>
          <p:cNvPr id="8" name="Image 2" descr="preencoded.png">    </p:cNvPr>
          <p:cNvPicPr>
            <a:picLocks noChangeAspect="1"/>
          </p:cNvPicPr>
          <p:nvPr/>
        </p:nvPicPr>
        <p:blipFill>
          <a:blip r:embed="rId3"/>
          <a:stretch>
            <a:fillRect/>
          </a:stretch>
        </p:blipFill>
        <p:spPr>
          <a:xfrm>
            <a:off x="4415284" y="2334555"/>
            <a:ext cx="4799707" cy="2376748"/>
          </a:xfrm>
          <a:prstGeom prst="rect">
            <a:avLst/>
          </a:prstGeom>
        </p:spPr>
      </p:pic>
      <p:pic>
        <p:nvPicPr>
          <p:cNvPr id="9" name="Image 3" descr="preencoded.png">    </p:cNvPr>
          <p:cNvPicPr>
            <a:picLocks noChangeAspect="1"/>
          </p:cNvPicPr>
          <p:nvPr/>
        </p:nvPicPr>
        <p:blipFill>
          <a:blip r:embed="rId4"/>
          <a:stretch>
            <a:fillRect/>
          </a:stretch>
        </p:blipFill>
        <p:spPr>
          <a:xfrm>
            <a:off x="5815236" y="-203039"/>
            <a:ext cx="3399755" cy="2798564"/>
          </a:xfrm>
          <a:prstGeom prst="rect">
            <a:avLst/>
          </a:prstGeom>
        </p:spPr>
      </p:pic>
      <p:pic>
        <p:nvPicPr>
          <p:cNvPr id="10" name="Image 4" descr="preencoded.png">    </p:cNvPr>
          <p:cNvPicPr>
            <a:picLocks noChangeAspect="1"/>
          </p:cNvPicPr>
          <p:nvPr/>
        </p:nvPicPr>
        <p:blipFill>
          <a:blip r:embed="rId5"/>
          <a:stretch>
            <a:fillRect/>
          </a:stretch>
        </p:blipFill>
        <p:spPr>
          <a:xfrm>
            <a:off x="4672459" y="2635486"/>
            <a:ext cx="4184675" cy="2068004"/>
          </a:xfrm>
          <a:prstGeom prst="rect">
            <a:avLst/>
          </a:prstGeom>
        </p:spPr>
      </p:pic>
      <p:pic>
        <p:nvPicPr>
          <p:cNvPr id="11" name="Image 5" descr="preencoded.png">    </p:cNvPr>
          <p:cNvPicPr>
            <a:picLocks noChangeAspect="1"/>
          </p:cNvPicPr>
          <p:nvPr/>
        </p:nvPicPr>
        <p:blipFill>
          <a:blip r:embed="rId6"/>
          <a:stretch>
            <a:fillRect/>
          </a:stretch>
        </p:blipFill>
        <p:spPr>
          <a:xfrm>
            <a:off x="5895380" y="418467"/>
            <a:ext cx="2961642" cy="2436465"/>
          </a:xfrm>
          <a:prstGeom prst="rect">
            <a:avLst/>
          </a:prstGeom>
        </p:spPr>
      </p:pic>
      <p:pic>
        <p:nvPicPr>
          <p:cNvPr id="12" name="Image 6" descr="E:\AImoney\NovaWay-Matrix\novaway-coder\.tmp\presenton-pptx-deck\editorial\assets\images\replaceable_template_image.png">    </p:cNvPr>
          <p:cNvPicPr>
            <a:picLocks noChangeAspect="1"/>
          </p:cNvPicPr>
          <p:nvPr/>
        </p:nvPicPr>
        <p:blipFill>
          <a:blip r:embed="rId7"/>
          <a:srcRect l="20659" r="20659" t="0" b="0"/>
          <a:stretch/>
        </p:blipFill>
        <p:spPr>
          <a:xfrm>
            <a:off x="4667101" y="2635486"/>
            <a:ext cx="2117452" cy="2029718"/>
          </a:xfrm>
          <a:prstGeom prst="rect">
            <a:avLst/>
          </a:prstGeom>
        </p:spPr>
      </p:pic>
      <p:pic>
        <p:nvPicPr>
          <p:cNvPr id="13" name="Image 7" descr="E:\AImoney\NovaWay-Matrix\novaway-coder\.tmp\presenton-pptx-deck\editorial\assets\images\replaceable_template_image.png">    </p:cNvPr>
          <p:cNvPicPr>
            <a:picLocks noChangeAspect="1"/>
          </p:cNvPicPr>
          <p:nvPr/>
        </p:nvPicPr>
        <p:blipFill>
          <a:blip r:embed="rId8"/>
          <a:srcRect l="30627" r="30627" t="0" b="0"/>
          <a:stretch/>
        </p:blipFill>
        <p:spPr>
          <a:xfrm>
            <a:off x="5895268" y="418467"/>
            <a:ext cx="2917552" cy="4235574"/>
          </a:xfrm>
          <a:prstGeom prst="rect">
            <a:avLst/>
          </a:prstGeom>
        </p:spPr>
      </p:pic>
      <p:pic>
        <p:nvPicPr>
          <p:cNvPr id="14" name="Image 8" descr="preencoded.png">    </p:cNvPr>
          <p:cNvPicPr>
            <a:picLocks noChangeAspect="1"/>
          </p:cNvPicPr>
          <p:nvPr/>
        </p:nvPicPr>
        <p:blipFill>
          <a:blip r:embed="rId9"/>
          <a:stretch>
            <a:fillRect/>
          </a:stretch>
        </p:blipFill>
        <p:spPr>
          <a:xfrm>
            <a:off x="-515801" y="4276874"/>
            <a:ext cx="2122698" cy="438113"/>
          </a:xfrm>
          <a:prstGeom prst="rect">
            <a:avLst/>
          </a:prstGeom>
        </p:spPr>
      </p:pic>
      <p:pic>
        <p:nvPicPr>
          <p:cNvPr id="15" name="Image 9" descr="E:\AImoney\NovaWay-Matrix\novaway-coder\.tmp\presenton-pptx-deck\editorial\assets\images\replaceable_template_image.png">    </p:cNvPr>
          <p:cNvPicPr>
            <a:picLocks noChangeAspect="1"/>
          </p:cNvPicPr>
          <p:nvPr/>
        </p:nvPicPr>
        <p:blipFill>
          <a:blip r:embed="rId10"/>
          <a:srcRect l="21875" r="21875" t="0" b="0"/>
          <a:stretch/>
        </p:blipFill>
        <p:spPr>
          <a:xfrm>
            <a:off x="300038" y="4362710"/>
            <a:ext cx="266328" cy="266328"/>
          </a:xfrm>
          <a:prstGeom prst="rect">
            <a:avLst/>
          </a:prstGeom>
        </p:spPr>
      </p:pic>
      <p:sp>
        <p:nvSpPr>
          <p:cNvPr id="16" name="Text 4"/>
          <p:cNvSpPr/>
          <p:nvPr/>
        </p:nvSpPr>
        <p:spPr>
          <a:xfrm>
            <a:off x="629431" y="4365054"/>
            <a:ext cx="705298" cy="171450"/>
          </a:xfrm>
          <a:prstGeom prst="rect">
            <a:avLst/>
          </a:prstGeom>
          <a:noFill/>
          <a:ln/>
        </p:spPr>
        <p:txBody>
          <a:bodyPr wrap="none" rtlCol="0" anchor="ctr"/>
          <a:lstStyle/>
          <a:p>
            <a:pPr algn="l" indent="0" marL="0">
              <a:lnSpc>
                <a:spcPct val="104000"/>
              </a:lnSpc>
              <a:buNone/>
            </a:pPr>
            <a:r>
              <a:rPr lang="en-US" sz="1005" dirty="0">
                <a:solidFill>
                  <a:srgbClr val="D9D9D9"/>
                </a:solidFill>
                <a:latin typeface="DM Sans" pitchFamily="34" charset="0"/>
                <a:ea typeface="DM Sans" pitchFamily="34" charset="-122"/>
                <a:cs typeface="DM Sans" pitchFamily="34" charset="-120"/>
              </a:rPr>
              <a:t>John Doe</a:t>
            </a:r>
            <a:endParaRPr lang="en-US" sz="1005" dirty="0"/>
          </a:p>
        </p:txBody>
      </p:sp>
      <p:sp>
        <p:nvSpPr>
          <p:cNvPr id="17" name="Text 5"/>
          <p:cNvSpPr/>
          <p:nvPr/>
        </p:nvSpPr>
        <p:spPr>
          <a:xfrm>
            <a:off x="634231" y="4503576"/>
            <a:ext cx="761792" cy="114300"/>
          </a:xfrm>
          <a:prstGeom prst="rect">
            <a:avLst/>
          </a:prstGeom>
          <a:noFill/>
          <a:ln/>
        </p:spPr>
        <p:txBody>
          <a:bodyPr wrap="none" rtlCol="0" anchor="ctr"/>
          <a:lstStyle/>
          <a:p>
            <a:pPr algn="l" indent="0" marL="0">
              <a:lnSpc>
                <a:spcPct val="104000"/>
              </a:lnSpc>
              <a:buNone/>
            </a:pPr>
            <a:r>
              <a:rPr lang="en-US" sz="700" dirty="0">
                <a:solidFill>
                  <a:srgbClr val="D9D9D9"/>
                </a:solidFill>
                <a:latin typeface="DM Sans" pitchFamily="34" charset="0"/>
                <a:ea typeface="DM Sans" pitchFamily="34" charset="-122"/>
                <a:cs typeface="DM Sans" pitchFamily="34" charset="-120"/>
              </a:rPr>
              <a:t>December 2025</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069" y="-77019"/>
            <a:ext cx="9320138" cy="5276999"/>
          </a:xfrm>
          <a:prstGeom prst="rect">
            <a:avLst/>
          </a:prstGeom>
        </p:spPr>
      </p:pic>
      <p:pic>
        <p:nvPicPr>
          <p:cNvPr id="4" name="Image 1" descr="preencoded.png">    </p:cNvPr>
          <p:cNvPicPr>
            <a:picLocks noChangeAspect="1"/>
          </p:cNvPicPr>
          <p:nvPr/>
        </p:nvPicPr>
        <p:blipFill>
          <a:blip r:embed="rId2"/>
          <a:stretch>
            <a:fillRect/>
          </a:stretch>
        </p:blipFill>
        <p:spPr>
          <a:xfrm>
            <a:off x="-6720296" y="246619"/>
            <a:ext cx="13601885" cy="8146793"/>
          </a:xfrm>
          <a:prstGeom prst="rect">
            <a:avLst/>
          </a:prstGeom>
        </p:spPr>
      </p:pic>
      <p:sp>
        <p:nvSpPr>
          <p:cNvPr id="5" name="Text 1"/>
          <p:cNvSpPr/>
          <p:nvPr/>
        </p:nvSpPr>
        <p:spPr>
          <a:xfrm>
            <a:off x="351606" y="502407"/>
            <a:ext cx="1677022" cy="442913"/>
          </a:xfrm>
          <a:prstGeom prst="rect">
            <a:avLst/>
          </a:prstGeom>
          <a:noFill/>
          <a:ln/>
        </p:spPr>
        <p:txBody>
          <a:bodyPr wrap="none" rtlCol="0" anchor="ctr"/>
          <a:lstStyle/>
          <a:p>
            <a:pPr algn="l" indent="0" marL="0">
              <a:lnSpc>
                <a:spcPct val="111000"/>
              </a:lnSpc>
              <a:buNone/>
            </a:pPr>
            <a:r>
              <a:rPr lang="en-US" sz="2653" b="1" i="1" spc="39" kern="0" dirty="0">
                <a:solidFill>
                  <a:srgbClr val="FFFFFF"/>
                </a:solidFill>
                <a:latin typeface="Playfair Display Semi-Bold Italics" pitchFamily="34" charset="0"/>
                <a:ea typeface="Playfair Display Semi-Bold Italics" pitchFamily="34" charset="-122"/>
                <a:cs typeface="Playfair Display Semi-Bold Italics" pitchFamily="34" charset="-120"/>
              </a:rPr>
              <a:t>Agenda</a:t>
            </a:r>
            <a:endParaRPr lang="en-US" sz="2653" dirty="0"/>
          </a:p>
        </p:txBody>
      </p:sp>
      <p:sp>
        <p:nvSpPr>
          <p:cNvPr id="6" name="Text 2"/>
          <p:cNvSpPr/>
          <p:nvPr/>
        </p:nvSpPr>
        <p:spPr>
          <a:xfrm>
            <a:off x="1045555" y="1067433"/>
            <a:ext cx="1882521" cy="1035844"/>
          </a:xfrm>
          <a:prstGeom prst="rect">
            <a:avLst/>
          </a:prstGeom>
          <a:noFill/>
          <a:ln/>
        </p:spPr>
        <p:txBody>
          <a:bodyPr wrap="none" rtlCol="0" anchor="ctr"/>
          <a:lstStyle/>
          <a:p>
            <a:pPr algn="l" indent="0" marL="0">
              <a:lnSpc>
                <a:spcPct val="111000"/>
              </a:lnSpc>
              <a:buNone/>
            </a:pPr>
            <a:r>
              <a:rPr lang="en-US" sz="6176" b="1" spc="92" kern="0" dirty="0">
                <a:solidFill>
                  <a:srgbClr val="FFFFFF"/>
                </a:solidFill>
                <a:latin typeface="DM Sans Bold" pitchFamily="34" charset="0"/>
                <a:ea typeface="DM Sans Bold" pitchFamily="34" charset="-122"/>
                <a:cs typeface="DM Sans Bold" pitchFamily="34" charset="-120"/>
              </a:rPr>
              <a:t>01</a:t>
            </a:r>
            <a:endParaRPr lang="en-US" sz="6176" dirty="0"/>
          </a:p>
        </p:txBody>
      </p:sp>
      <p:pic>
        <p:nvPicPr>
          <p:cNvPr id="7" name="Image 2" descr="preencoded.png">    </p:cNvPr>
          <p:cNvPicPr>
            <a:picLocks noChangeAspect="1"/>
          </p:cNvPicPr>
          <p:nvPr/>
        </p:nvPicPr>
        <p:blipFill>
          <a:blip r:embed="rId3"/>
          <a:stretch>
            <a:fillRect/>
          </a:stretch>
        </p:blipFill>
        <p:spPr>
          <a:xfrm>
            <a:off x="989075" y="1669070"/>
            <a:ext cx="1064530" cy="381633"/>
          </a:xfrm>
          <a:prstGeom prst="rect">
            <a:avLst/>
          </a:prstGeom>
        </p:spPr>
      </p:pic>
      <p:sp>
        <p:nvSpPr>
          <p:cNvPr id="8" name="Text 3"/>
          <p:cNvSpPr/>
          <p:nvPr/>
        </p:nvSpPr>
        <p:spPr>
          <a:xfrm>
            <a:off x="2255527" y="1274155"/>
            <a:ext cx="1808351" cy="221456"/>
          </a:xfrm>
          <a:prstGeom prst="rect">
            <a:avLst/>
          </a:prstGeom>
          <a:noFill/>
          <a:ln/>
        </p:spPr>
        <p:txBody>
          <a:bodyPr wrap="none" rtlCol="0" anchor="ctr"/>
          <a:lstStyle/>
          <a:p>
            <a:pPr algn="l" indent="0" marL="0">
              <a:lnSpc>
                <a:spcPct val="119000"/>
              </a:lnSpc>
              <a:buNone/>
            </a:pPr>
            <a:r>
              <a:rPr lang="en-US" sz="1327" spc="20" kern="0" dirty="0">
                <a:solidFill>
                  <a:srgbClr val="FFFFFF"/>
                </a:solidFill>
                <a:latin typeface="DM Sans" pitchFamily="34" charset="0"/>
                <a:ea typeface="DM Sans" pitchFamily="34" charset="-122"/>
                <a:cs typeface="DM Sans" pitchFamily="34" charset="-120"/>
              </a:rPr>
              <a:t>Executive Summary</a:t>
            </a:r>
            <a:endParaRPr lang="en-US" sz="13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069" y="-77019"/>
            <a:ext cx="9320138" cy="5276999"/>
          </a:xfrm>
          <a:prstGeom prst="rect">
            <a:avLst/>
          </a:prstGeom>
        </p:spPr>
      </p:pic>
      <p:pic>
        <p:nvPicPr>
          <p:cNvPr id="4" name="Image 1" descr="preencoded.png">    </p:cNvPr>
          <p:cNvPicPr>
            <a:picLocks noChangeAspect="1"/>
          </p:cNvPicPr>
          <p:nvPr/>
        </p:nvPicPr>
        <p:blipFill>
          <a:blip r:embed="rId2"/>
          <a:stretch>
            <a:fillRect/>
          </a:stretch>
        </p:blipFill>
        <p:spPr>
          <a:xfrm>
            <a:off x="-6720296" y="246619"/>
            <a:ext cx="13601885" cy="8146793"/>
          </a:xfrm>
          <a:prstGeom prst="rect">
            <a:avLst/>
          </a:prstGeom>
        </p:spPr>
      </p:pic>
      <p:sp>
        <p:nvSpPr>
          <p:cNvPr id="5" name="Text 1"/>
          <p:cNvSpPr/>
          <p:nvPr/>
        </p:nvSpPr>
        <p:spPr>
          <a:xfrm>
            <a:off x="571500" y="595945"/>
            <a:ext cx="6523065" cy="442913"/>
          </a:xfrm>
          <a:prstGeom prst="rect">
            <a:avLst/>
          </a:prstGeom>
          <a:noFill/>
          <a:ln/>
        </p:spPr>
        <p:txBody>
          <a:bodyPr wrap="none" rtlCol="0" anchor="ctr"/>
          <a:lstStyle/>
          <a:p>
            <a:pPr algn="l" indent="0" marL="0">
              <a:lnSpc>
                <a:spcPct val="111000"/>
              </a:lnSpc>
              <a:buNone/>
            </a:pPr>
            <a:r>
              <a:rPr lang="en-US" sz="2650" b="1" i="1" spc="39" kern="0" dirty="0">
                <a:solidFill>
                  <a:srgbClr val="FFFFFF"/>
                </a:solidFill>
                <a:latin typeface="Playfair Display Semi-Bold Italics" pitchFamily="34" charset="0"/>
                <a:ea typeface="Playfair Display Semi-Bold Italics" pitchFamily="34" charset="-122"/>
                <a:cs typeface="Playfair Display Semi-Bold Italics" pitchFamily="34" charset="-120"/>
              </a:rPr>
              <a:t>Strategic Sustainability Initiatives</a:t>
            </a:r>
            <a:endParaRPr lang="en-US" sz="2650" dirty="0"/>
          </a:p>
        </p:txBody>
      </p:sp>
      <p:pic>
        <p:nvPicPr>
          <p:cNvPr id="6" name="Image 2" descr="preencoded.png">    </p:cNvPr>
          <p:cNvPicPr>
            <a:picLocks noChangeAspect="1"/>
          </p:cNvPicPr>
          <p:nvPr/>
        </p:nvPicPr>
        <p:blipFill>
          <a:blip r:embed="rId3"/>
          <a:stretch>
            <a:fillRect/>
          </a:stretch>
        </p:blipFill>
        <p:spPr>
          <a:xfrm>
            <a:off x="3179304" y="1353517"/>
            <a:ext cx="2881275" cy="3087886"/>
          </a:xfrm>
          <a:prstGeom prst="rect">
            <a:avLst/>
          </a:prstGeom>
        </p:spPr>
      </p:pic>
      <p:sp>
        <p:nvSpPr>
          <p:cNvPr id="7" name="Shape 2"/>
          <p:cNvSpPr/>
          <p:nvPr/>
        </p:nvSpPr>
        <p:spPr>
          <a:xfrm>
            <a:off x="3600896" y="1905707"/>
            <a:ext cx="535781" cy="535781"/>
          </a:xfrm>
          <a:prstGeom prst="rect">
            <a:avLst/>
          </a:prstGeom>
          <a:solidFill>
            <a:srgbClr val="A0A4A8">
              <a:alpha val="55000"/>
            </a:srgbClr>
          </a:solidFill>
          <a:ln/>
        </p:spPr>
      </p:sp>
      <p:sp>
        <p:nvSpPr>
          <p:cNvPr id="8" name="Shape 3"/>
          <p:cNvSpPr/>
          <p:nvPr/>
        </p:nvSpPr>
        <p:spPr>
          <a:xfrm>
            <a:off x="5103875" y="1905707"/>
            <a:ext cx="535781" cy="535781"/>
          </a:xfrm>
          <a:prstGeom prst="rect">
            <a:avLst/>
          </a:prstGeom>
          <a:solidFill>
            <a:srgbClr val="A0A4A8">
              <a:alpha val="55000"/>
            </a:srgbClr>
          </a:solidFill>
          <a:ln/>
        </p:spPr>
      </p:sp>
      <p:sp>
        <p:nvSpPr>
          <p:cNvPr id="9" name="Shape 4"/>
          <p:cNvSpPr/>
          <p:nvPr/>
        </p:nvSpPr>
        <p:spPr>
          <a:xfrm>
            <a:off x="3580358" y="3419512"/>
            <a:ext cx="535781" cy="535781"/>
          </a:xfrm>
          <a:prstGeom prst="rect">
            <a:avLst/>
          </a:prstGeom>
          <a:solidFill>
            <a:srgbClr val="A0A4A8">
              <a:alpha val="55000"/>
            </a:srgbClr>
          </a:solidFill>
          <a:ln/>
        </p:spPr>
      </p:sp>
      <p:sp>
        <p:nvSpPr>
          <p:cNvPr id="10" name="Shape 5"/>
          <p:cNvSpPr/>
          <p:nvPr/>
        </p:nvSpPr>
        <p:spPr>
          <a:xfrm>
            <a:off x="5117716" y="3462375"/>
            <a:ext cx="535781" cy="521494"/>
          </a:xfrm>
          <a:prstGeom prst="rect">
            <a:avLst/>
          </a:prstGeom>
          <a:solidFill>
            <a:srgbClr val="A0A4A8">
              <a:alpha val="55000"/>
            </a:srgbClr>
          </a:solidFill>
          <a:ln/>
        </p:spPr>
      </p:sp>
      <p:sp>
        <p:nvSpPr>
          <p:cNvPr id="11" name="Text 6"/>
          <p:cNvSpPr/>
          <p:nvPr/>
        </p:nvSpPr>
        <p:spPr>
          <a:xfrm>
            <a:off x="1386557" y="1747651"/>
            <a:ext cx="1695087" cy="322808"/>
          </a:xfrm>
          <a:prstGeom prst="rect">
            <a:avLst/>
          </a:prstGeom>
          <a:noFill/>
          <a:ln/>
        </p:spPr>
        <p:txBody>
          <a:bodyPr wrap="square" rtlCol="0" anchor="ctr"/>
          <a:lstStyle/>
          <a:p>
            <a:pPr algn="r" indent="0" marL="0">
              <a:lnSpc>
                <a:spcPct val="119000"/>
              </a:lnSpc>
              <a:buNone/>
            </a:pPr>
            <a:r>
              <a:rPr lang="en-US" sz="1002" b="1" spc="15" kern="0" dirty="0">
                <a:solidFill>
                  <a:srgbClr val="FFFFFF"/>
                </a:solidFill>
                <a:latin typeface="Playfair Display Bold" pitchFamily="34" charset="0"/>
                <a:ea typeface="Playfair Display Bold" pitchFamily="34" charset="-122"/>
                <a:cs typeface="Playfair Display Bold" pitchFamily="34" charset="-120"/>
              </a:rPr>
              <a:t>Reduce Environmental Impact</a:t>
            </a:r>
            <a:endParaRPr lang="en-US" sz="1002" dirty="0"/>
          </a:p>
        </p:txBody>
      </p:sp>
      <p:sp>
        <p:nvSpPr>
          <p:cNvPr id="12" name="Text 7"/>
          <p:cNvSpPr/>
          <p:nvPr/>
        </p:nvSpPr>
        <p:spPr>
          <a:xfrm>
            <a:off x="1091096" y="1941761"/>
            <a:ext cx="2021378" cy="422821"/>
          </a:xfrm>
          <a:prstGeom prst="rect">
            <a:avLst/>
          </a:prstGeom>
          <a:noFill/>
          <a:ln/>
        </p:spPr>
        <p:txBody>
          <a:bodyPr wrap="square" rtlCol="0" anchor="ctr"/>
          <a:lstStyle/>
          <a:p>
            <a:pPr algn="r" indent="0" marL="0">
              <a:lnSpc>
                <a:spcPct val="119000"/>
              </a:lnSpc>
              <a:buNone/>
            </a:pPr>
            <a:r>
              <a:rPr lang="en-US" sz="902" spc="14" kern="0" dirty="0">
                <a:solidFill>
                  <a:srgbClr val="FFFFFF"/>
                </a:solidFill>
                <a:latin typeface="DM Sans" pitchFamily="34" charset="0"/>
                <a:ea typeface="DM Sans" pitchFamily="34" charset="-122"/>
                <a:cs typeface="DM Sans" pitchFamily="34" charset="-120"/>
              </a:rPr>
              <a:t>Lower emissions, improve energy efficiency, and conserve natural resources.</a:t>
            </a:r>
            <a:endParaRPr lang="en-US" sz="902" dirty="0"/>
          </a:p>
        </p:txBody>
      </p:sp>
      <p:sp>
        <p:nvSpPr>
          <p:cNvPr id="13" name="Text 8"/>
          <p:cNvSpPr/>
          <p:nvPr/>
        </p:nvSpPr>
        <p:spPr>
          <a:xfrm>
            <a:off x="6475809" y="1747651"/>
            <a:ext cx="1453432" cy="322808"/>
          </a:xfrm>
          <a:prstGeom prst="rect">
            <a:avLst/>
          </a:prstGeom>
          <a:noFill/>
          <a:ln/>
        </p:spPr>
        <p:txBody>
          <a:bodyPr wrap="square" rtlCol="0" anchor="ctr"/>
          <a:lstStyle/>
          <a:p>
            <a:pPr algn="l" indent="0" marL="0">
              <a:lnSpc>
                <a:spcPct val="119000"/>
              </a:lnSpc>
              <a:buNone/>
            </a:pPr>
            <a:r>
              <a:rPr lang="en-US" sz="1002" b="1" spc="15" kern="0" dirty="0">
                <a:solidFill>
                  <a:srgbClr val="FFFFFF"/>
                </a:solidFill>
                <a:latin typeface="Playfair Display Bold" pitchFamily="34" charset="0"/>
                <a:ea typeface="Playfair Display Bold" pitchFamily="34" charset="-122"/>
                <a:cs typeface="Playfair Display Bold" pitchFamily="34" charset="-120"/>
              </a:rPr>
              <a:t>Empower People &amp; Communities</a:t>
            </a:r>
            <a:endParaRPr lang="en-US" sz="1002" dirty="0"/>
          </a:p>
        </p:txBody>
      </p:sp>
      <p:sp>
        <p:nvSpPr>
          <p:cNvPr id="14" name="Text 9"/>
          <p:cNvSpPr/>
          <p:nvPr/>
        </p:nvSpPr>
        <p:spPr>
          <a:xfrm>
            <a:off x="6475809" y="1941761"/>
            <a:ext cx="1839105" cy="422821"/>
          </a:xfrm>
          <a:prstGeom prst="rect">
            <a:avLst/>
          </a:prstGeom>
          <a:noFill/>
          <a:ln/>
        </p:spPr>
        <p:txBody>
          <a:bodyPr wrap="square" rtlCol="0" anchor="ctr"/>
          <a:lstStyle/>
          <a:p>
            <a:pPr algn="l" indent="0" marL="0">
              <a:lnSpc>
                <a:spcPct val="119000"/>
              </a:lnSpc>
              <a:buNone/>
            </a:pPr>
            <a:r>
              <a:rPr lang="en-US" sz="902" spc="14" kern="0" dirty="0">
                <a:solidFill>
                  <a:srgbClr val="FFFFFF"/>
                </a:solidFill>
                <a:latin typeface="DM Sans" pitchFamily="34" charset="0"/>
                <a:ea typeface="DM Sans" pitchFamily="34" charset="-122"/>
                <a:cs typeface="DM Sans" pitchFamily="34" charset="-120"/>
              </a:rPr>
              <a:t>Promote diversity, employee well-being, and meaningful community engagement.</a:t>
            </a:r>
            <a:endParaRPr lang="en-US" sz="902" dirty="0"/>
          </a:p>
        </p:txBody>
      </p:sp>
      <p:sp>
        <p:nvSpPr>
          <p:cNvPr id="15" name="Text 10"/>
          <p:cNvSpPr/>
          <p:nvPr/>
        </p:nvSpPr>
        <p:spPr>
          <a:xfrm>
            <a:off x="1271141" y="3293715"/>
            <a:ext cx="1779722" cy="171450"/>
          </a:xfrm>
          <a:prstGeom prst="rect">
            <a:avLst/>
          </a:prstGeom>
          <a:noFill/>
          <a:ln/>
        </p:spPr>
        <p:txBody>
          <a:bodyPr wrap="none" rtlCol="0" anchor="ctr"/>
          <a:lstStyle/>
          <a:p>
            <a:pPr algn="r" indent="0" marL="0">
              <a:lnSpc>
                <a:spcPct val="119000"/>
              </a:lnSpc>
              <a:buNone/>
            </a:pPr>
            <a:r>
              <a:rPr lang="en-US" sz="1002" b="1" spc="15" kern="0" dirty="0">
                <a:solidFill>
                  <a:srgbClr val="FFFFFF"/>
                </a:solidFill>
                <a:latin typeface="Playfair Display Bold" pitchFamily="34" charset="0"/>
                <a:ea typeface="Playfair Display Bold" pitchFamily="34" charset="-122"/>
                <a:cs typeface="Playfair Display Bold" pitchFamily="34" charset="-120"/>
              </a:rPr>
              <a:t> Strengthen Governance</a:t>
            </a:r>
            <a:endParaRPr lang="en-US" sz="1002" dirty="0"/>
          </a:p>
        </p:txBody>
      </p:sp>
      <p:sp>
        <p:nvSpPr>
          <p:cNvPr id="16" name="Text 11"/>
          <p:cNvSpPr/>
          <p:nvPr/>
        </p:nvSpPr>
        <p:spPr>
          <a:xfrm>
            <a:off x="1171687" y="3487824"/>
            <a:ext cx="1931116" cy="422821"/>
          </a:xfrm>
          <a:prstGeom prst="rect">
            <a:avLst/>
          </a:prstGeom>
          <a:noFill/>
          <a:ln/>
        </p:spPr>
        <p:txBody>
          <a:bodyPr wrap="square" rtlCol="0" anchor="ctr"/>
          <a:lstStyle/>
          <a:p>
            <a:pPr algn="r" indent="0" marL="0">
              <a:lnSpc>
                <a:spcPct val="119000"/>
              </a:lnSpc>
              <a:buNone/>
            </a:pPr>
            <a:r>
              <a:rPr lang="en-US" sz="902" spc="14" kern="0" dirty="0">
                <a:solidFill>
                  <a:srgbClr val="FFFFFF"/>
                </a:solidFill>
                <a:latin typeface="DM Sans" pitchFamily="34" charset="0"/>
                <a:ea typeface="DM Sans" pitchFamily="34" charset="-122"/>
                <a:cs typeface="DM Sans" pitchFamily="34" charset="-120"/>
              </a:rPr>
              <a:t>Maintain transparency, ethical leadership, and effective risk management.</a:t>
            </a:r>
            <a:endParaRPr lang="en-US" sz="902" dirty="0"/>
          </a:p>
        </p:txBody>
      </p:sp>
      <p:sp>
        <p:nvSpPr>
          <p:cNvPr id="17" name="Text 12"/>
          <p:cNvSpPr/>
          <p:nvPr/>
        </p:nvSpPr>
        <p:spPr>
          <a:xfrm>
            <a:off x="6475809" y="3293715"/>
            <a:ext cx="1374547" cy="322808"/>
          </a:xfrm>
          <a:prstGeom prst="rect">
            <a:avLst/>
          </a:prstGeom>
          <a:noFill/>
          <a:ln/>
        </p:spPr>
        <p:txBody>
          <a:bodyPr wrap="square" rtlCol="0" anchor="ctr"/>
          <a:lstStyle/>
          <a:p>
            <a:pPr algn="l" indent="0" marL="0">
              <a:lnSpc>
                <a:spcPct val="119000"/>
              </a:lnSpc>
              <a:buNone/>
            </a:pPr>
            <a:r>
              <a:rPr lang="en-US" sz="1002" b="1" spc="15" kern="0" dirty="0">
                <a:solidFill>
                  <a:srgbClr val="FFFFFF"/>
                </a:solidFill>
                <a:latin typeface="Playfair Display Bold" pitchFamily="34" charset="0"/>
                <a:ea typeface="Playfair Display Bold" pitchFamily="34" charset="-122"/>
                <a:cs typeface="Playfair Display Bold" pitchFamily="34" charset="-120"/>
              </a:rPr>
              <a:t> Drive Sustainable Innovation</a:t>
            </a:r>
            <a:endParaRPr lang="en-US" sz="1002" dirty="0"/>
          </a:p>
        </p:txBody>
      </p:sp>
      <p:sp>
        <p:nvSpPr>
          <p:cNvPr id="18" name="Text 13"/>
          <p:cNvSpPr/>
          <p:nvPr/>
        </p:nvSpPr>
        <p:spPr>
          <a:xfrm>
            <a:off x="6475809" y="3487824"/>
            <a:ext cx="1864733" cy="559222"/>
          </a:xfrm>
          <a:prstGeom prst="rect">
            <a:avLst/>
          </a:prstGeom>
          <a:noFill/>
          <a:ln/>
        </p:spPr>
        <p:txBody>
          <a:bodyPr wrap="square" rtlCol="0" anchor="ctr"/>
          <a:lstStyle/>
          <a:p>
            <a:pPr algn="l" indent="0" marL="0">
              <a:lnSpc>
                <a:spcPct val="119000"/>
              </a:lnSpc>
              <a:buNone/>
            </a:pPr>
            <a:r>
              <a:rPr lang="en-US" sz="902" spc="14" kern="0" dirty="0">
                <a:solidFill>
                  <a:srgbClr val="FFFFFF"/>
                </a:solidFill>
                <a:latin typeface="DM Sans" pitchFamily="34" charset="0"/>
                <a:ea typeface="DM Sans" pitchFamily="34" charset="-122"/>
                <a:cs typeface="DM Sans" pitchFamily="34" charset="-120"/>
              </a:rPr>
              <a:t>Develop innovative solutions that support long-term environmental and business goals.</a:t>
            </a:r>
            <a:endParaRPr lang="en-US" sz="90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069" y="-77019"/>
            <a:ext cx="9320138" cy="5276999"/>
          </a:xfrm>
          <a:prstGeom prst="rect">
            <a:avLst/>
          </a:prstGeom>
        </p:spPr>
      </p:pic>
      <p:pic>
        <p:nvPicPr>
          <p:cNvPr id="4" name="Image 1" descr="preencoded.png">    </p:cNvPr>
          <p:cNvPicPr>
            <a:picLocks noChangeAspect="1"/>
          </p:cNvPicPr>
          <p:nvPr/>
        </p:nvPicPr>
        <p:blipFill>
          <a:blip r:embed="rId2"/>
          <a:stretch>
            <a:fillRect/>
          </a:stretch>
        </p:blipFill>
        <p:spPr>
          <a:xfrm>
            <a:off x="-6720296" y="246619"/>
            <a:ext cx="13601885" cy="8146793"/>
          </a:xfrm>
          <a:prstGeom prst="rect">
            <a:avLst/>
          </a:prstGeom>
        </p:spPr>
      </p:pic>
      <p:sp>
        <p:nvSpPr>
          <p:cNvPr id="5" name="Text 1"/>
          <p:cNvSpPr/>
          <p:nvPr/>
        </p:nvSpPr>
        <p:spPr>
          <a:xfrm>
            <a:off x="564803" y="634008"/>
            <a:ext cx="4345168" cy="442913"/>
          </a:xfrm>
          <a:prstGeom prst="rect">
            <a:avLst/>
          </a:prstGeom>
          <a:noFill/>
          <a:ln/>
        </p:spPr>
        <p:txBody>
          <a:bodyPr wrap="none" rtlCol="0" anchor="ctr"/>
          <a:lstStyle/>
          <a:p>
            <a:pPr algn="l" indent="0" marL="0">
              <a:lnSpc>
                <a:spcPct val="111000"/>
              </a:lnSpc>
              <a:buNone/>
            </a:pPr>
            <a:r>
              <a:rPr lang="en-US" sz="2650" b="1" i="1" spc="39" kern="0" dirty="0">
                <a:solidFill>
                  <a:srgbClr val="FFFFFF"/>
                </a:solidFill>
                <a:latin typeface="Playfair Display Semi-Bold Italics" pitchFamily="34" charset="0"/>
                <a:ea typeface="Playfair Display Semi-Bold Italics" pitchFamily="34" charset="-122"/>
                <a:cs typeface="Playfair Display Semi-Bold Italics" pitchFamily="34" charset="-120"/>
              </a:rPr>
              <a:t>ESG Report Highlights</a:t>
            </a:r>
            <a:endParaRPr lang="en-US" sz="2650" dirty="0"/>
          </a:p>
        </p:txBody>
      </p:sp>
      <p:sp>
        <p:nvSpPr>
          <p:cNvPr id="6" name="Text 2"/>
          <p:cNvSpPr/>
          <p:nvPr/>
        </p:nvSpPr>
        <p:spPr>
          <a:xfrm>
            <a:off x="578309" y="1232074"/>
            <a:ext cx="4511564" cy="300930"/>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Key elements that define our approach to sustainable business and responsible growth.</a:t>
            </a:r>
            <a:endParaRPr lang="en-US" sz="952" dirty="0"/>
          </a:p>
        </p:txBody>
      </p:sp>
      <p:pic>
        <p:nvPicPr>
          <p:cNvPr id="7" name="Image 2" descr="preencoded.png">    </p:cNvPr>
          <p:cNvPicPr>
            <a:picLocks noChangeAspect="1"/>
          </p:cNvPicPr>
          <p:nvPr/>
        </p:nvPicPr>
        <p:blipFill>
          <a:blip r:embed="rId3"/>
          <a:stretch>
            <a:fillRect/>
          </a:stretch>
        </p:blipFill>
        <p:spPr>
          <a:xfrm>
            <a:off x="5914132" y="693390"/>
            <a:ext cx="2646425" cy="3983199"/>
          </a:xfrm>
          <a:prstGeom prst="rect">
            <a:avLst/>
          </a:prstGeom>
        </p:spPr>
      </p:pic>
      <p:pic>
        <p:nvPicPr>
          <p:cNvPr id="8" name="Image 3" descr="E:\AImoney\NovaWay-Matrix\novaway-coder\.tmp\presenton-pptx-deck\editorial\assets\images\replaceable_template_image.png">    </p:cNvPr>
          <p:cNvPicPr>
            <a:picLocks noChangeAspect="1"/>
          </p:cNvPicPr>
          <p:nvPr/>
        </p:nvPicPr>
        <p:blipFill>
          <a:blip r:embed="rId4"/>
          <a:srcRect l="31314" r="31314" t="0" b="0"/>
          <a:stretch/>
        </p:blipFill>
        <p:spPr>
          <a:xfrm>
            <a:off x="5866581" y="645840"/>
            <a:ext cx="2646425" cy="3983199"/>
          </a:xfrm>
          <a:prstGeom prst="rect">
            <a:avLst/>
          </a:prstGeom>
        </p:spPr>
      </p:pic>
      <p:pic>
        <p:nvPicPr>
          <p:cNvPr id="9" name="Image 4" descr="preencoded.png">    </p:cNvPr>
          <p:cNvPicPr>
            <a:picLocks noChangeAspect="1"/>
          </p:cNvPicPr>
          <p:nvPr/>
        </p:nvPicPr>
        <p:blipFill>
          <a:blip r:embed="rId5"/>
          <a:stretch>
            <a:fillRect/>
          </a:stretch>
        </p:blipFill>
        <p:spPr>
          <a:xfrm>
            <a:off x="558775" y="3243821"/>
            <a:ext cx="2222599" cy="668834"/>
          </a:xfrm>
          <a:prstGeom prst="rect">
            <a:avLst/>
          </a:prstGeom>
        </p:spPr>
      </p:pic>
      <p:sp>
        <p:nvSpPr>
          <p:cNvPr id="10" name="Text 3"/>
          <p:cNvSpPr/>
          <p:nvPr/>
        </p:nvSpPr>
        <p:spPr>
          <a:xfrm>
            <a:off x="643942" y="3404555"/>
            <a:ext cx="1450306" cy="444698"/>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Reducing carbon emissions, improving energy.</a:t>
            </a:r>
            <a:endParaRPr lang="en-US" sz="952" dirty="0"/>
          </a:p>
        </p:txBody>
      </p:sp>
      <p:sp>
        <p:nvSpPr>
          <p:cNvPr id="11" name="Shape 4"/>
          <p:cNvSpPr/>
          <p:nvPr/>
        </p:nvSpPr>
        <p:spPr>
          <a:xfrm>
            <a:off x="2354200" y="3427661"/>
            <a:ext cx="341226" cy="351383"/>
          </a:xfrm>
          <a:prstGeom prst="rect">
            <a:avLst/>
          </a:prstGeom>
          <a:solidFill>
            <a:srgbClr val="C9EAF9">
              <a:alpha val="75000"/>
            </a:srgbClr>
          </a:solidFill>
          <a:ln/>
        </p:spPr>
      </p:sp>
      <p:pic>
        <p:nvPicPr>
          <p:cNvPr id="12" name="Image 5" descr="preencoded.png">    </p:cNvPr>
          <p:cNvPicPr>
            <a:picLocks noChangeAspect="1"/>
          </p:cNvPicPr>
          <p:nvPr/>
        </p:nvPicPr>
        <p:blipFill>
          <a:blip r:embed="rId6"/>
          <a:stretch>
            <a:fillRect/>
          </a:stretch>
        </p:blipFill>
        <p:spPr>
          <a:xfrm>
            <a:off x="558775" y="3960093"/>
            <a:ext cx="1468041" cy="668834"/>
          </a:xfrm>
          <a:prstGeom prst="rect">
            <a:avLst/>
          </a:prstGeom>
        </p:spPr>
      </p:pic>
      <p:sp>
        <p:nvSpPr>
          <p:cNvPr id="13" name="Text 5"/>
          <p:cNvSpPr/>
          <p:nvPr/>
        </p:nvSpPr>
        <p:spPr>
          <a:xfrm>
            <a:off x="630324" y="4138017"/>
            <a:ext cx="788924" cy="444698"/>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Promoting ethical leadership.</a:t>
            </a:r>
            <a:endParaRPr lang="en-US" sz="952" dirty="0"/>
          </a:p>
        </p:txBody>
      </p:sp>
      <p:sp>
        <p:nvSpPr>
          <p:cNvPr id="14" name="Shape 6"/>
          <p:cNvSpPr/>
          <p:nvPr/>
        </p:nvSpPr>
        <p:spPr>
          <a:xfrm>
            <a:off x="1611250" y="4151635"/>
            <a:ext cx="341672" cy="352611"/>
          </a:xfrm>
          <a:prstGeom prst="rect">
            <a:avLst/>
          </a:prstGeom>
          <a:solidFill>
            <a:srgbClr val="C9EAF9">
              <a:alpha val="75000"/>
            </a:srgb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069" y="-77019"/>
            <a:ext cx="9320138" cy="5276999"/>
          </a:xfrm>
          <a:prstGeom prst="rect">
            <a:avLst/>
          </a:prstGeom>
        </p:spPr>
      </p:pic>
      <p:pic>
        <p:nvPicPr>
          <p:cNvPr id="4" name="Image 1" descr="preencoded.png">    </p:cNvPr>
          <p:cNvPicPr>
            <a:picLocks noChangeAspect="1"/>
          </p:cNvPicPr>
          <p:nvPr/>
        </p:nvPicPr>
        <p:blipFill>
          <a:blip r:embed="rId2"/>
          <a:stretch>
            <a:fillRect/>
          </a:stretch>
        </p:blipFill>
        <p:spPr>
          <a:xfrm>
            <a:off x="-6843552" y="-46154"/>
            <a:ext cx="13932112" cy="8874097"/>
          </a:xfrm>
          <a:prstGeom prst="rect">
            <a:avLst/>
          </a:prstGeom>
        </p:spPr>
      </p:pic>
      <p:sp>
        <p:nvSpPr>
          <p:cNvPr id="5" name="Text 1"/>
          <p:cNvSpPr/>
          <p:nvPr/>
        </p:nvSpPr>
        <p:spPr>
          <a:xfrm>
            <a:off x="583332" y="502407"/>
            <a:ext cx="2667972" cy="1189881"/>
          </a:xfrm>
          <a:prstGeom prst="rect">
            <a:avLst/>
          </a:prstGeom>
          <a:noFill/>
          <a:ln/>
        </p:spPr>
        <p:txBody>
          <a:bodyPr wrap="square" rtlCol="0" anchor="ctr"/>
          <a:lstStyle/>
          <a:p>
            <a:pPr algn="l" indent="0" marL="0">
              <a:lnSpc>
                <a:spcPct val="111000"/>
              </a:lnSpc>
              <a:buNone/>
            </a:pPr>
            <a:r>
              <a:rPr lang="en-US" sz="2650" b="1" i="1" spc="39" kern="0" dirty="0">
                <a:solidFill>
                  <a:srgbClr val="FFFFFF"/>
                </a:solidFill>
                <a:latin typeface="Playfair Display Semi-Bold Italics" pitchFamily="34" charset="0"/>
                <a:ea typeface="Playfair Display Semi-Bold Italics" pitchFamily="34" charset="-122"/>
                <a:cs typeface="Playfair Display Semi-Bold Italics" pitchFamily="34" charset="-120"/>
              </a:rPr>
              <a:t>ESG Performance Timeline</a:t>
            </a:r>
            <a:endParaRPr lang="en-US" sz="2650" dirty="0"/>
          </a:p>
        </p:txBody>
      </p:sp>
      <p:sp>
        <p:nvSpPr>
          <p:cNvPr id="6" name="Text 2"/>
          <p:cNvSpPr/>
          <p:nvPr/>
        </p:nvSpPr>
        <p:spPr>
          <a:xfrm>
            <a:off x="564245" y="1416583"/>
            <a:ext cx="3246781" cy="444698"/>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Tracking measurable sustainability progress and key performance milestones over four reporting years.</a:t>
            </a:r>
            <a:endParaRPr lang="en-US" sz="952" dirty="0"/>
          </a:p>
        </p:txBody>
      </p:sp>
      <p:sp>
        <p:nvSpPr>
          <p:cNvPr id="7" name="Text 3"/>
          <p:cNvSpPr/>
          <p:nvPr/>
        </p:nvSpPr>
        <p:spPr>
          <a:xfrm>
            <a:off x="558552" y="3849253"/>
            <a:ext cx="3218902" cy="1019770"/>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Our ESG strategy has delivered measurable improvements in environmental performance, operational efficiency, and responsible business practices. This timeline highlights the progress made across key sustainability indicators while reinforcing our commitment to long-term value creation.</a:t>
            </a:r>
            <a:endParaRPr lang="en-US" sz="952" dirty="0"/>
          </a:p>
        </p:txBody>
      </p:sp>
      <p:pic>
        <p:nvPicPr>
          <p:cNvPr id="8" name="Image 2" descr="preencoded.png">    </p:cNvPr>
          <p:cNvPicPr>
            <a:picLocks noChangeAspect="1"/>
          </p:cNvPicPr>
          <p:nvPr/>
        </p:nvPicPr>
        <p:blipFill>
          <a:blip r:embed="rId3"/>
          <a:stretch>
            <a:fillRect/>
          </a:stretch>
        </p:blipFill>
        <p:spPr>
          <a:xfrm>
            <a:off x="3828157" y="3656819"/>
            <a:ext cx="5403800" cy="15430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069" y="-77019"/>
            <a:ext cx="9320138" cy="5276999"/>
          </a:xfrm>
          <a:prstGeom prst="rect">
            <a:avLst/>
          </a:prstGeom>
        </p:spPr>
      </p:pic>
      <p:pic>
        <p:nvPicPr>
          <p:cNvPr id="4" name="Image 1" descr="preencoded.png">    </p:cNvPr>
          <p:cNvPicPr>
            <a:picLocks noChangeAspect="1"/>
          </p:cNvPicPr>
          <p:nvPr/>
        </p:nvPicPr>
        <p:blipFill>
          <a:blip r:embed="rId2"/>
          <a:stretch>
            <a:fillRect/>
          </a:stretch>
        </p:blipFill>
        <p:spPr>
          <a:xfrm>
            <a:off x="-7304409" y="235680"/>
            <a:ext cx="13601885" cy="8146793"/>
          </a:xfrm>
          <a:prstGeom prst="rect">
            <a:avLst/>
          </a:prstGeom>
        </p:spPr>
      </p:pic>
      <p:sp>
        <p:nvSpPr>
          <p:cNvPr id="5" name="Text 1"/>
          <p:cNvSpPr/>
          <p:nvPr/>
        </p:nvSpPr>
        <p:spPr>
          <a:xfrm>
            <a:off x="583555" y="608335"/>
            <a:ext cx="4081510" cy="442913"/>
          </a:xfrm>
          <a:prstGeom prst="rect">
            <a:avLst/>
          </a:prstGeom>
          <a:noFill/>
          <a:ln/>
        </p:spPr>
        <p:txBody>
          <a:bodyPr wrap="none" rtlCol="0" anchor="ctr"/>
          <a:lstStyle/>
          <a:p>
            <a:pPr algn="l" indent="0" marL="0">
              <a:lnSpc>
                <a:spcPct val="111000"/>
              </a:lnSpc>
              <a:buNone/>
            </a:pPr>
            <a:r>
              <a:rPr lang="en-US" sz="2650" b="1" i="1" spc="39" kern="0" dirty="0">
                <a:solidFill>
                  <a:srgbClr val="FFFFFF"/>
                </a:solidFill>
                <a:latin typeface="Playfair Display Semi-Bold Italics" pitchFamily="34" charset="0"/>
                <a:ea typeface="Playfair Display Semi-Bold Italics" pitchFamily="34" charset="-122"/>
                <a:cs typeface="Playfair Display Semi-Bold Italics" pitchFamily="34" charset="-120"/>
              </a:rPr>
              <a:t>Strategic Action Plan</a:t>
            </a:r>
            <a:endParaRPr lang="en-US" sz="2650" dirty="0"/>
          </a:p>
        </p:txBody>
      </p:sp>
      <p:sp>
        <p:nvSpPr>
          <p:cNvPr id="6" name="Text 2"/>
          <p:cNvSpPr/>
          <p:nvPr/>
        </p:nvSpPr>
        <p:spPr>
          <a:xfrm>
            <a:off x="583555" y="1139875"/>
            <a:ext cx="3964996" cy="300930"/>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A roadmap for accelerating sustainability performance and creating long-term stakeholder value.</a:t>
            </a:r>
            <a:endParaRPr lang="en-US" sz="952" dirty="0"/>
          </a:p>
        </p:txBody>
      </p:sp>
      <p:pic>
        <p:nvPicPr>
          <p:cNvPr id="7"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7424" y="-845530"/>
            <a:ext cx="6265069" cy="6500813"/>
          </a:xfrm>
          <a:prstGeom prst="rect">
            <a:avLst/>
          </a:prstGeom>
        </p:spPr>
      </p:pic>
      <p:pic>
        <p:nvPicPr>
          <p:cNvPr id="8"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89412" y="3511153"/>
            <a:ext cx="208843" cy="208843"/>
          </a:xfrm>
          <a:prstGeom prst="rect">
            <a:avLst/>
          </a:prstGeom>
        </p:spPr>
      </p:pic>
      <p:sp>
        <p:nvSpPr>
          <p:cNvPr id="9" name="Text 3"/>
          <p:cNvSpPr/>
          <p:nvPr/>
        </p:nvSpPr>
        <p:spPr>
          <a:xfrm>
            <a:off x="3709839" y="3536379"/>
            <a:ext cx="290093" cy="157163"/>
          </a:xfrm>
          <a:prstGeom prst="rect">
            <a:avLst/>
          </a:prstGeom>
          <a:noFill/>
          <a:ln/>
        </p:spPr>
        <p:txBody>
          <a:bodyPr wrap="none" rtlCol="0" anchor="ctr"/>
          <a:lstStyle/>
          <a:p>
            <a:pPr algn="l" indent="0" marL="0">
              <a:lnSpc>
                <a:spcPct val="119000"/>
              </a:lnSpc>
              <a:buNone/>
            </a:pPr>
            <a:r>
              <a:rPr lang="en-US" sz="952" b="1" spc="14" kern="0" dirty="0">
                <a:solidFill>
                  <a:srgbClr val="2075BC"/>
                </a:solidFill>
                <a:latin typeface="DM Sans Bold" pitchFamily="34" charset="0"/>
                <a:ea typeface="DM Sans Bold" pitchFamily="34" charset="-122"/>
                <a:cs typeface="DM Sans Bold" pitchFamily="34" charset="-120"/>
              </a:rPr>
              <a:t>06</a:t>
            </a:r>
            <a:endParaRPr lang="en-US" sz="952" dirty="0"/>
          </a:p>
        </p:txBody>
      </p:sp>
      <p:sp>
        <p:nvSpPr>
          <p:cNvPr id="10" name="Text 4"/>
          <p:cNvSpPr/>
          <p:nvPr/>
        </p:nvSpPr>
        <p:spPr>
          <a:xfrm>
            <a:off x="3689412" y="3794894"/>
            <a:ext cx="966625" cy="157163"/>
          </a:xfrm>
          <a:prstGeom prst="rect">
            <a:avLst/>
          </a:prstGeom>
          <a:noFill/>
          <a:ln/>
        </p:spPr>
        <p:txBody>
          <a:bodyPr wrap="none" rtlCol="0" anchor="ctr"/>
          <a:lstStyle/>
          <a:p>
            <a:pPr algn="l" indent="0" marL="0">
              <a:lnSpc>
                <a:spcPct val="119000"/>
              </a:lnSpc>
              <a:buNone/>
            </a:pPr>
            <a:r>
              <a:rPr lang="en-US" sz="952" b="1" spc="14" kern="0" dirty="0">
                <a:solidFill>
                  <a:srgbClr val="FFFFFF"/>
                </a:solidFill>
                <a:latin typeface="DM Sans Bold" pitchFamily="34" charset="0"/>
                <a:ea typeface="DM Sans Bold" pitchFamily="34" charset="-122"/>
                <a:cs typeface="DM Sans Bold" pitchFamily="34" charset="-120"/>
              </a:rPr>
              <a:t>Improvement</a:t>
            </a:r>
            <a:endParaRPr lang="en-US" sz="952" dirty="0"/>
          </a:p>
        </p:txBody>
      </p:sp>
      <p:sp>
        <p:nvSpPr>
          <p:cNvPr id="11" name="Text 5"/>
          <p:cNvSpPr/>
          <p:nvPr/>
        </p:nvSpPr>
        <p:spPr>
          <a:xfrm>
            <a:off x="3689412" y="3991905"/>
            <a:ext cx="1532442" cy="588466"/>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Refine strategies, encourage innovation, and strengthen ESG performance.</a:t>
            </a:r>
            <a:endParaRPr lang="en-US" sz="952" dirty="0"/>
          </a:p>
        </p:txBody>
      </p:sp>
      <p:pic>
        <p:nvPicPr>
          <p:cNvPr id="12"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07099" y="842963"/>
            <a:ext cx="208843" cy="208843"/>
          </a:xfrm>
          <a:prstGeom prst="rect">
            <a:avLst/>
          </a:prstGeom>
        </p:spPr>
      </p:pic>
      <p:sp>
        <p:nvSpPr>
          <p:cNvPr id="13" name="Text 6"/>
          <p:cNvSpPr/>
          <p:nvPr/>
        </p:nvSpPr>
        <p:spPr>
          <a:xfrm>
            <a:off x="5038353" y="868077"/>
            <a:ext cx="290093" cy="300930"/>
          </a:xfrm>
          <a:prstGeom prst="rect">
            <a:avLst/>
          </a:prstGeom>
          <a:noFill/>
          <a:ln/>
        </p:spPr>
        <p:txBody>
          <a:bodyPr wrap="none" rtlCol="0" anchor="ctr"/>
          <a:lstStyle/>
          <a:p>
            <a:pPr algn="l" indent="0" marL="0">
              <a:lnSpc>
                <a:spcPct val="119000"/>
              </a:lnSpc>
              <a:buNone/>
            </a:pPr>
            <a:r>
              <a:rPr lang="en-US" sz="952" b="1" spc="14" kern="0" dirty="0">
                <a:solidFill>
                  <a:srgbClr val="2075BC"/>
                </a:solidFill>
                <a:latin typeface="DM Sans Bold" pitchFamily="34" charset="0"/>
                <a:ea typeface="DM Sans Bold" pitchFamily="34" charset="-122"/>
                <a:cs typeface="DM Sans Bold" pitchFamily="34" charset="-120"/>
              </a:rPr>
              <a:t>01</a:t>
            </a:r>
            <a:endParaRPr lang="en-US" sz="952" dirty="0"/>
          </a:p>
        </p:txBody>
      </p:sp>
      <p:sp>
        <p:nvSpPr>
          <p:cNvPr id="14" name="Text 7"/>
          <p:cNvSpPr/>
          <p:nvPr/>
        </p:nvSpPr>
        <p:spPr>
          <a:xfrm>
            <a:off x="5007099" y="1126703"/>
            <a:ext cx="1134267" cy="157163"/>
          </a:xfrm>
          <a:prstGeom prst="rect">
            <a:avLst/>
          </a:prstGeom>
          <a:noFill/>
          <a:ln/>
        </p:spPr>
        <p:txBody>
          <a:bodyPr wrap="none" rtlCol="0" anchor="ctr"/>
          <a:lstStyle/>
          <a:p>
            <a:pPr algn="l" indent="0" marL="0">
              <a:lnSpc>
                <a:spcPct val="119000"/>
              </a:lnSpc>
              <a:buNone/>
            </a:pPr>
            <a:r>
              <a:rPr lang="en-US" sz="952" b="1" spc="14" kern="0" dirty="0">
                <a:solidFill>
                  <a:srgbClr val="FFFFFF"/>
                </a:solidFill>
                <a:latin typeface="DM Sans Bold" pitchFamily="34" charset="0"/>
                <a:ea typeface="DM Sans Bold" pitchFamily="34" charset="-122"/>
                <a:cs typeface="DM Sans Bold" pitchFamily="34" charset="-120"/>
              </a:rPr>
              <a:t>ESG Assessment</a:t>
            </a:r>
            <a:endParaRPr lang="en-US" sz="952" dirty="0"/>
          </a:p>
        </p:txBody>
      </p:sp>
      <p:sp>
        <p:nvSpPr>
          <p:cNvPr id="15" name="Text 8"/>
          <p:cNvSpPr/>
          <p:nvPr/>
        </p:nvSpPr>
        <p:spPr>
          <a:xfrm>
            <a:off x="5007099" y="1323715"/>
            <a:ext cx="1633829" cy="732234"/>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Evaluate environmental, social, and governance performance to identify key risks, opportunities, and priorities.</a:t>
            </a:r>
            <a:endParaRPr lang="en-US" sz="952" dirty="0"/>
          </a:p>
        </p:txBody>
      </p:sp>
      <p:pic>
        <p:nvPicPr>
          <p:cNvPr id="16"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52056" y="2267248"/>
            <a:ext cx="208843" cy="208843"/>
          </a:xfrm>
          <a:prstGeom prst="rect">
            <a:avLst/>
          </a:prstGeom>
        </p:spPr>
      </p:pic>
      <p:sp>
        <p:nvSpPr>
          <p:cNvPr id="17" name="Text 9"/>
          <p:cNvSpPr/>
          <p:nvPr/>
        </p:nvSpPr>
        <p:spPr>
          <a:xfrm>
            <a:off x="3972483" y="2292362"/>
            <a:ext cx="290093" cy="157163"/>
          </a:xfrm>
          <a:prstGeom prst="rect">
            <a:avLst/>
          </a:prstGeom>
          <a:noFill/>
          <a:ln/>
        </p:spPr>
        <p:txBody>
          <a:bodyPr wrap="none" rtlCol="0" anchor="ctr"/>
          <a:lstStyle/>
          <a:p>
            <a:pPr algn="l" indent="0" marL="0">
              <a:lnSpc>
                <a:spcPct val="119000"/>
              </a:lnSpc>
              <a:buNone/>
            </a:pPr>
            <a:r>
              <a:rPr lang="en-US" sz="952" b="1" spc="14" kern="0" dirty="0">
                <a:solidFill>
                  <a:srgbClr val="2075BC"/>
                </a:solidFill>
                <a:latin typeface="DM Sans Bold" pitchFamily="34" charset="0"/>
                <a:ea typeface="DM Sans Bold" pitchFamily="34" charset="-122"/>
                <a:cs typeface="DM Sans Bold" pitchFamily="34" charset="-120"/>
              </a:rPr>
              <a:t>03</a:t>
            </a:r>
            <a:endParaRPr lang="en-US" sz="952" dirty="0"/>
          </a:p>
        </p:txBody>
      </p:sp>
      <p:sp>
        <p:nvSpPr>
          <p:cNvPr id="18" name="Text 10"/>
          <p:cNvSpPr/>
          <p:nvPr/>
        </p:nvSpPr>
        <p:spPr>
          <a:xfrm>
            <a:off x="3952056" y="2550988"/>
            <a:ext cx="958477" cy="300930"/>
          </a:xfrm>
          <a:prstGeom prst="rect">
            <a:avLst/>
          </a:prstGeom>
          <a:noFill/>
          <a:ln/>
        </p:spPr>
        <p:txBody>
          <a:bodyPr wrap="square" rtlCol="0" anchor="ctr"/>
          <a:lstStyle/>
          <a:p>
            <a:pPr algn="l" indent="0" marL="0">
              <a:lnSpc>
                <a:spcPct val="119000"/>
              </a:lnSpc>
              <a:buNone/>
            </a:pPr>
            <a:r>
              <a:rPr lang="en-US" sz="952" b="1" spc="14" kern="0" dirty="0">
                <a:solidFill>
                  <a:srgbClr val="FFFFFF"/>
                </a:solidFill>
                <a:latin typeface="DM Sans Bold" pitchFamily="34" charset="0"/>
                <a:ea typeface="DM Sans Bold" pitchFamily="34" charset="-122"/>
                <a:cs typeface="DM Sans Bold" pitchFamily="34" charset="-120"/>
              </a:rPr>
              <a:t>Strategy Development</a:t>
            </a:r>
            <a:endParaRPr lang="en-US" sz="952" dirty="0"/>
          </a:p>
        </p:txBody>
      </p:sp>
      <p:sp>
        <p:nvSpPr>
          <p:cNvPr id="19" name="Text 11"/>
          <p:cNvSpPr/>
          <p:nvPr/>
        </p:nvSpPr>
        <p:spPr>
          <a:xfrm>
            <a:off x="3952056" y="2748000"/>
            <a:ext cx="1439805" cy="588466"/>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Develop action plans focused on carbon reduction, resource efficiency, employee.</a:t>
            </a:r>
            <a:endParaRPr lang="en-US" sz="952" dirty="0"/>
          </a:p>
        </p:txBody>
      </p:sp>
      <p:pic>
        <p:nvPicPr>
          <p:cNvPr id="20"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88459" y="2267248"/>
            <a:ext cx="208843" cy="208843"/>
          </a:xfrm>
          <a:prstGeom prst="rect">
            <a:avLst/>
          </a:prstGeom>
        </p:spPr>
      </p:pic>
      <p:sp>
        <p:nvSpPr>
          <p:cNvPr id="21" name="Text 12"/>
          <p:cNvSpPr/>
          <p:nvPr/>
        </p:nvSpPr>
        <p:spPr>
          <a:xfrm>
            <a:off x="5908886" y="2292362"/>
            <a:ext cx="290093" cy="157163"/>
          </a:xfrm>
          <a:prstGeom prst="rect">
            <a:avLst/>
          </a:prstGeom>
          <a:noFill/>
          <a:ln/>
        </p:spPr>
        <p:txBody>
          <a:bodyPr wrap="none" rtlCol="0" anchor="ctr"/>
          <a:lstStyle/>
          <a:p>
            <a:pPr algn="l" indent="0" marL="0">
              <a:lnSpc>
                <a:spcPct val="119000"/>
              </a:lnSpc>
              <a:buNone/>
            </a:pPr>
            <a:r>
              <a:rPr lang="en-US" sz="952" b="1" spc="14" kern="0" dirty="0">
                <a:solidFill>
                  <a:srgbClr val="2075BC"/>
                </a:solidFill>
                <a:latin typeface="DM Sans Bold" pitchFamily="34" charset="0"/>
                <a:ea typeface="DM Sans Bold" pitchFamily="34" charset="-122"/>
                <a:cs typeface="DM Sans Bold" pitchFamily="34" charset="-120"/>
              </a:rPr>
              <a:t>02</a:t>
            </a:r>
            <a:endParaRPr lang="en-US" sz="952" dirty="0"/>
          </a:p>
        </p:txBody>
      </p:sp>
      <p:sp>
        <p:nvSpPr>
          <p:cNvPr id="22" name="Text 13"/>
          <p:cNvSpPr/>
          <p:nvPr/>
        </p:nvSpPr>
        <p:spPr>
          <a:xfrm>
            <a:off x="5888459" y="2550988"/>
            <a:ext cx="892062" cy="157163"/>
          </a:xfrm>
          <a:prstGeom prst="rect">
            <a:avLst/>
          </a:prstGeom>
          <a:noFill/>
          <a:ln/>
        </p:spPr>
        <p:txBody>
          <a:bodyPr wrap="none" rtlCol="0" anchor="ctr"/>
          <a:lstStyle/>
          <a:p>
            <a:pPr algn="l" indent="0" marL="0">
              <a:lnSpc>
                <a:spcPct val="119000"/>
              </a:lnSpc>
              <a:buNone/>
            </a:pPr>
            <a:r>
              <a:rPr lang="en-US" sz="952" b="1" spc="14" kern="0" dirty="0">
                <a:solidFill>
                  <a:srgbClr val="FFFFFF"/>
                </a:solidFill>
                <a:latin typeface="DM Sans Bold" pitchFamily="34" charset="0"/>
                <a:ea typeface="DM Sans Bold" pitchFamily="34" charset="-122"/>
                <a:cs typeface="DM Sans Bold" pitchFamily="34" charset="-120"/>
              </a:rPr>
              <a:t>Goal Setting</a:t>
            </a:r>
            <a:endParaRPr lang="en-US" sz="952" dirty="0"/>
          </a:p>
        </p:txBody>
      </p:sp>
      <p:sp>
        <p:nvSpPr>
          <p:cNvPr id="23" name="Text 14"/>
          <p:cNvSpPr/>
          <p:nvPr/>
        </p:nvSpPr>
        <p:spPr>
          <a:xfrm>
            <a:off x="5888459" y="2748000"/>
            <a:ext cx="1664708" cy="588466"/>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Define measurable ESG objectives aligned with business strategy, stakeholder expectations</a:t>
            </a:r>
            <a:endParaRPr lang="en-US" sz="952" dirty="0"/>
          </a:p>
        </p:txBody>
      </p:sp>
      <p:pic>
        <p:nvPicPr>
          <p:cNvPr id="24"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91270" y="3452217"/>
            <a:ext cx="208843" cy="208843"/>
          </a:xfrm>
          <a:prstGeom prst="rect">
            <a:avLst/>
          </a:prstGeom>
        </p:spPr>
      </p:pic>
      <p:sp>
        <p:nvSpPr>
          <p:cNvPr id="25" name="Text 15"/>
          <p:cNvSpPr/>
          <p:nvPr/>
        </p:nvSpPr>
        <p:spPr>
          <a:xfrm>
            <a:off x="1611697" y="3477444"/>
            <a:ext cx="290093" cy="157163"/>
          </a:xfrm>
          <a:prstGeom prst="rect">
            <a:avLst/>
          </a:prstGeom>
          <a:noFill/>
          <a:ln/>
        </p:spPr>
        <p:txBody>
          <a:bodyPr wrap="none" rtlCol="0" anchor="ctr"/>
          <a:lstStyle/>
          <a:p>
            <a:pPr algn="l" indent="0" marL="0">
              <a:lnSpc>
                <a:spcPct val="119000"/>
              </a:lnSpc>
              <a:buNone/>
            </a:pPr>
            <a:r>
              <a:rPr lang="en-US" sz="952" b="1" spc="14" kern="0" dirty="0">
                <a:solidFill>
                  <a:srgbClr val="2075BC"/>
                </a:solidFill>
                <a:latin typeface="DM Sans Bold" pitchFamily="34" charset="0"/>
                <a:ea typeface="DM Sans Bold" pitchFamily="34" charset="-122"/>
                <a:cs typeface="DM Sans Bold" pitchFamily="34" charset="-120"/>
              </a:rPr>
              <a:t>05</a:t>
            </a:r>
            <a:endParaRPr lang="en-US" sz="952" dirty="0"/>
          </a:p>
        </p:txBody>
      </p:sp>
      <p:sp>
        <p:nvSpPr>
          <p:cNvPr id="26" name="Text 16"/>
          <p:cNvSpPr/>
          <p:nvPr/>
        </p:nvSpPr>
        <p:spPr>
          <a:xfrm>
            <a:off x="1591270" y="3735958"/>
            <a:ext cx="958142" cy="300930"/>
          </a:xfrm>
          <a:prstGeom prst="rect">
            <a:avLst/>
          </a:prstGeom>
          <a:noFill/>
          <a:ln/>
        </p:spPr>
        <p:txBody>
          <a:bodyPr wrap="square" rtlCol="0" anchor="ctr"/>
          <a:lstStyle/>
          <a:p>
            <a:pPr algn="l" indent="0" marL="0">
              <a:lnSpc>
                <a:spcPct val="119000"/>
              </a:lnSpc>
              <a:buNone/>
            </a:pPr>
            <a:r>
              <a:rPr lang="en-US" sz="952" b="1" spc="14" kern="0" dirty="0">
                <a:solidFill>
                  <a:srgbClr val="FFFFFF"/>
                </a:solidFill>
                <a:latin typeface="DM Sans Bold" pitchFamily="34" charset="0"/>
                <a:ea typeface="DM Sans Bold" pitchFamily="34" charset="-122"/>
                <a:cs typeface="DM Sans Bold" pitchFamily="34" charset="-120"/>
              </a:rPr>
              <a:t>Performance Monitoring</a:t>
            </a:r>
            <a:endParaRPr lang="en-US" sz="952" dirty="0"/>
          </a:p>
        </p:txBody>
      </p:sp>
      <p:sp>
        <p:nvSpPr>
          <p:cNvPr id="27" name="Text 17"/>
          <p:cNvSpPr/>
          <p:nvPr/>
        </p:nvSpPr>
        <p:spPr>
          <a:xfrm>
            <a:off x="1591270" y="3932969"/>
            <a:ext cx="1750594" cy="588466"/>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Track ESG KPIs, measure progress, conduct regular reviews, and ensure transparent reporting.</a:t>
            </a:r>
            <a:endParaRPr lang="en-US" sz="952" dirty="0"/>
          </a:p>
        </p:txBody>
      </p:sp>
      <p:pic>
        <p:nvPicPr>
          <p:cNvPr id="28" name="Image 8"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15740" y="2267248"/>
            <a:ext cx="208843" cy="208843"/>
          </a:xfrm>
          <a:prstGeom prst="rect">
            <a:avLst/>
          </a:prstGeom>
        </p:spPr>
      </p:pic>
      <p:sp>
        <p:nvSpPr>
          <p:cNvPr id="29" name="Text 18"/>
          <p:cNvSpPr/>
          <p:nvPr/>
        </p:nvSpPr>
        <p:spPr>
          <a:xfrm>
            <a:off x="1836167" y="2292362"/>
            <a:ext cx="290093" cy="157163"/>
          </a:xfrm>
          <a:prstGeom prst="rect">
            <a:avLst/>
          </a:prstGeom>
          <a:noFill/>
          <a:ln/>
        </p:spPr>
        <p:txBody>
          <a:bodyPr wrap="none" rtlCol="0" anchor="ctr"/>
          <a:lstStyle/>
          <a:p>
            <a:pPr algn="l" indent="0" marL="0">
              <a:lnSpc>
                <a:spcPct val="119000"/>
              </a:lnSpc>
              <a:buNone/>
            </a:pPr>
            <a:r>
              <a:rPr lang="en-US" sz="952" b="1" spc="14" kern="0" dirty="0">
                <a:solidFill>
                  <a:srgbClr val="2075BC"/>
                </a:solidFill>
                <a:latin typeface="DM Sans Bold" pitchFamily="34" charset="0"/>
                <a:ea typeface="DM Sans Bold" pitchFamily="34" charset="-122"/>
                <a:cs typeface="DM Sans Bold" pitchFamily="34" charset="-120"/>
              </a:rPr>
              <a:t>04</a:t>
            </a:r>
            <a:endParaRPr lang="en-US" sz="952" dirty="0"/>
          </a:p>
        </p:txBody>
      </p:sp>
      <p:sp>
        <p:nvSpPr>
          <p:cNvPr id="30" name="Text 19"/>
          <p:cNvSpPr/>
          <p:nvPr/>
        </p:nvSpPr>
        <p:spPr>
          <a:xfrm>
            <a:off x="1815740" y="2550988"/>
            <a:ext cx="1122560" cy="157163"/>
          </a:xfrm>
          <a:prstGeom prst="rect">
            <a:avLst/>
          </a:prstGeom>
          <a:noFill/>
          <a:ln/>
        </p:spPr>
        <p:txBody>
          <a:bodyPr wrap="none" rtlCol="0" anchor="ctr"/>
          <a:lstStyle/>
          <a:p>
            <a:pPr algn="l" indent="0" marL="0">
              <a:lnSpc>
                <a:spcPct val="119000"/>
              </a:lnSpc>
              <a:buNone/>
            </a:pPr>
            <a:r>
              <a:rPr lang="en-US" sz="952" b="1" spc="14" kern="0" dirty="0">
                <a:solidFill>
                  <a:srgbClr val="FFFFFF"/>
                </a:solidFill>
                <a:latin typeface="DM Sans Bold" pitchFamily="34" charset="0"/>
                <a:ea typeface="DM Sans Bold" pitchFamily="34" charset="-122"/>
                <a:cs typeface="DM Sans Bold" pitchFamily="34" charset="-120"/>
              </a:rPr>
              <a:t>Implementation</a:t>
            </a:r>
            <a:endParaRPr lang="en-US" sz="952" dirty="0"/>
          </a:p>
        </p:txBody>
      </p:sp>
      <p:sp>
        <p:nvSpPr>
          <p:cNvPr id="31" name="Text 20"/>
          <p:cNvSpPr/>
          <p:nvPr/>
        </p:nvSpPr>
        <p:spPr>
          <a:xfrm>
            <a:off x="1815740" y="2748000"/>
            <a:ext cx="1467308" cy="588466"/>
          </a:xfrm>
          <a:prstGeom prst="rect">
            <a:avLst/>
          </a:prstGeom>
          <a:noFill/>
          <a:ln/>
        </p:spPr>
        <p:txBody>
          <a:bodyPr wrap="square" rtlCol="0" anchor="ctr"/>
          <a:lstStyle/>
          <a:p>
            <a:pPr algn="l" indent="0" marL="0">
              <a:lnSpc>
                <a:spcPct val="119000"/>
              </a:lnSpc>
              <a:buNone/>
            </a:pPr>
            <a:r>
              <a:rPr lang="en-US" sz="952" spc="14" kern="0" dirty="0">
                <a:solidFill>
                  <a:srgbClr val="FFFFFF"/>
                </a:solidFill>
                <a:latin typeface="DM Sans" pitchFamily="34" charset="0"/>
                <a:ea typeface="DM Sans" pitchFamily="34" charset="-122"/>
                <a:cs typeface="DM Sans" pitchFamily="34" charset="-120"/>
              </a:rPr>
              <a:t>Execute sustainability initiatives through renewable energy adoption, operational</a:t>
            </a:r>
            <a:endParaRPr lang="en-US" sz="9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2026-08-12T08:37:56Z</dcterms:created>
  <dcterms:modified xsi:type="dcterms:W3CDTF">2026-08-12T08:37:56Z</dcterms:modified>
</cp:coreProperties>
</file>