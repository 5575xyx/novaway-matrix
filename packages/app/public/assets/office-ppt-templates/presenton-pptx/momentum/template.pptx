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04738" y="1329072"/>
            <a:ext cx="4988686" cy="2270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8500" b="1" spc="-604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SALES</a:t>
            </a:r>
            <a:endParaRPr lang="en-US" sz="85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8500" b="1" spc="-604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REPORT</a:t>
            </a:r>
            <a:endParaRPr lang="en-US" sz="8500" dirty="0"/>
          </a:p>
        </p:txBody>
      </p:sp>
      <p:sp>
        <p:nvSpPr>
          <p:cNvPr id="4" name="Text 2"/>
          <p:cNvSpPr/>
          <p:nvPr/>
        </p:nvSpPr>
        <p:spPr>
          <a:xfrm>
            <a:off x="487896" y="3399867"/>
            <a:ext cx="4705463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1" kern="0" dirty="0">
                <a:solidFill>
                  <a:srgbClr val="2E35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Understanding our performance helps us make smarter business decisions.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4738" y="4611291"/>
            <a:ext cx="713817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spc="11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Presenter: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4255" y="4611291"/>
            <a:ext cx="1016868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1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Lorem doe, CEO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88818" y="4611291"/>
            <a:ext cx="423602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spc="11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Date: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98120" y="4611291"/>
            <a:ext cx="805235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1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Jan 26, 2030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52550" y="-369689"/>
            <a:ext cx="11450203" cy="6440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6316" y="2095965"/>
            <a:ext cx="11201177" cy="19912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5292" y="964406"/>
            <a:ext cx="2849053" cy="8358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5000" b="1" spc="-335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Agenda</a:t>
            </a:r>
            <a:endParaRPr lang="en-US" sz="5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738" y="2253853"/>
            <a:ext cx="123788" cy="1237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4763" y="2161319"/>
            <a:ext cx="396221" cy="2143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3545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04763" y="2356210"/>
            <a:ext cx="1256907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Executive Summary.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6796" y="-2190670"/>
            <a:ext cx="6939895" cy="911942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5645" y="-3392944"/>
            <a:ext cx="7182456" cy="109608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4738" y="807244"/>
            <a:ext cx="4272967" cy="8143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38" b="1" spc="-335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Sales Journey</a:t>
            </a:r>
            <a:endParaRPr lang="en-US" sz="4838" dirty="0"/>
          </a:p>
        </p:txBody>
      </p:sp>
      <p:sp>
        <p:nvSpPr>
          <p:cNvPr id="6" name="Text 2"/>
          <p:cNvSpPr/>
          <p:nvPr/>
        </p:nvSpPr>
        <p:spPr>
          <a:xfrm>
            <a:off x="404738" y="1624757"/>
            <a:ext cx="3943243" cy="592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Examine our sales results, identify the challenges we've faced, evaluate our achievements, drive future growth. The purpose is to provide a clear picture of where we stand today and where we're heading next.</a:t>
            </a:r>
            <a:endParaRPr lang="en-US" sz="900" dirty="0"/>
          </a:p>
        </p:txBody>
      </p:sp>
      <p:pic>
        <p:nvPicPr>
          <p:cNvPr id="7" name="Image 2" descr="E:\AImoney\NovaWay-Matrix\novaway-coder\.tmp\presenton-pptx-deck\momentum\assets\images\replaceable_template_image.png">    </p:cNvPr>
          <p:cNvPicPr>
            <a:picLocks noChangeAspect="1"/>
          </p:cNvPicPr>
          <p:nvPr/>
        </p:nvPicPr>
        <p:blipFill>
          <a:blip r:embed="rId3"/>
          <a:srcRect l="33044" r="33044" t="0" b="0"/>
          <a:stretch/>
        </p:blipFill>
        <p:spPr>
          <a:xfrm>
            <a:off x="5434719" y="1109737"/>
            <a:ext cx="2121694" cy="35193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45401" y="4716661"/>
            <a:ext cx="21328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700" spc="12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6796" y="-2190670"/>
            <a:ext cx="6939895" cy="911942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8274" y="-3170897"/>
            <a:ext cx="6491531" cy="106276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4738" y="807244"/>
            <a:ext cx="5838489" cy="8358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spc="-335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Strategic Solutions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404738" y="1600981"/>
            <a:ext cx="9077885" cy="297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address the challenges identified in our sales performance, we are implementing a comprehensive growth strategy that combines customer-focused initiatives, advanced technology, and data-driven decision-making.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38" y="2585591"/>
            <a:ext cx="2238896" cy="2043447"/>
          </a:xfrm>
          <a:prstGeom prst="rect">
            <a:avLst/>
          </a:prstGeom>
        </p:spPr>
      </p:pic>
      <p:pic>
        <p:nvPicPr>
          <p:cNvPr id="8" name="Image 3" descr="E:\AImoney\NovaWay-Matrix\novaway-coder\.tmp\presenton-pptx-deck\momentum\assets\images\replaceable_template_image.png">    </p:cNvPr>
          <p:cNvPicPr>
            <a:picLocks noChangeAspect="1"/>
          </p:cNvPicPr>
          <p:nvPr/>
        </p:nvPicPr>
        <p:blipFill>
          <a:blip r:embed="rId4"/>
          <a:srcRect l="31251" r="31251" t="0" b="0"/>
          <a:stretch/>
        </p:blipFill>
        <p:spPr>
          <a:xfrm>
            <a:off x="2448520" y="2084412"/>
            <a:ext cx="2030611" cy="304602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38014" y="2843436"/>
            <a:ext cx="2025128" cy="2143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Improve Qualification</a:t>
            </a:r>
            <a:endParaRPr lang="en-US" sz="1300" dirty="0"/>
          </a:p>
        </p:txBody>
      </p:sp>
      <p:sp>
        <p:nvSpPr>
          <p:cNvPr id="10" name="Text 4"/>
          <p:cNvSpPr/>
          <p:nvPr/>
        </p:nvSpPr>
        <p:spPr>
          <a:xfrm>
            <a:off x="538014" y="3206204"/>
            <a:ext cx="2091636" cy="1476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advanced lead scoring and customer segmentation to identify high-potential prospects, enabling the sales team to focus on opportunities with the greatest likelihood of conversion.Implement advanced lead scoring and customer segmentation.</a:t>
            </a:r>
            <a:endParaRPr lang="en-US" sz="9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943" y="2585591"/>
            <a:ext cx="2212442" cy="2043447"/>
          </a:xfrm>
          <a:prstGeom prst="rect">
            <a:avLst/>
          </a:prstGeom>
        </p:spPr>
      </p:pic>
      <p:pic>
        <p:nvPicPr>
          <p:cNvPr id="12" name="Image 5" descr="E:\AImoney\NovaWay-Matrix\novaway-coder\.tmp\presenton-pptx-deck\momentum\assets\images\replaceable_template_image.png">    </p:cNvPr>
          <p:cNvPicPr>
            <a:picLocks noChangeAspect="1"/>
          </p:cNvPicPr>
          <p:nvPr/>
        </p:nvPicPr>
        <p:blipFill>
          <a:blip r:embed="rId6"/>
          <a:srcRect l="31251" r="31251" t="0" b="0"/>
          <a:stretch/>
        </p:blipFill>
        <p:spPr>
          <a:xfrm>
            <a:off x="6674830" y="2084412"/>
            <a:ext cx="2030611" cy="304602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715880" y="2843436"/>
            <a:ext cx="2025128" cy="2143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Improve Qualification</a:t>
            </a:r>
            <a:endParaRPr lang="en-US" sz="1300" dirty="0"/>
          </a:p>
        </p:txBody>
      </p:sp>
      <p:sp>
        <p:nvSpPr>
          <p:cNvPr id="14" name="Text 6"/>
          <p:cNvSpPr/>
          <p:nvPr/>
        </p:nvSpPr>
        <p:spPr>
          <a:xfrm>
            <a:off x="4715880" y="3206204"/>
            <a:ext cx="2091636" cy="1476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advanced lead scoring and customer segmentation to identify high-potential prospects, enabling the sales team to focus on opportunities with the greatest likelihood of conversion.Implement advanced lead scoring and customer segmentation.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8745401" y="4716661"/>
            <a:ext cx="21328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700" spc="12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04738" y="807244"/>
            <a:ext cx="4324090" cy="1367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38" b="1" spc="-292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Our Business Goals</a:t>
            </a:r>
            <a:endParaRPr lang="en-US" sz="4838" dirty="0"/>
          </a:p>
        </p:txBody>
      </p:sp>
      <p:sp>
        <p:nvSpPr>
          <p:cNvPr id="4" name="Text 2"/>
          <p:cNvSpPr/>
          <p:nvPr/>
        </p:nvSpPr>
        <p:spPr>
          <a:xfrm>
            <a:off x="5616550" y="1014971"/>
            <a:ext cx="3512689" cy="528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spc="14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business goals define the strategic direction of the organization and provide measurable targets for improving sales performance, strengthening customer relationships, and expanding our market presence.</a:t>
            </a:r>
            <a:endParaRPr lang="en-US" sz="800" dirty="0"/>
          </a:p>
        </p:txBody>
      </p:sp>
      <p:pic>
        <p:nvPicPr>
          <p:cNvPr id="5" name="Image 0" descr="E:\AImoney\NovaWay-Matrix\novaway-coder\.tmp\presenton-pptx-deck\momentum\assets\images\replaceable_template_image.png">    </p:cNvPr>
          <p:cNvPicPr>
            <a:picLocks noChangeAspect="1"/>
          </p:cNvPicPr>
          <p:nvPr/>
        </p:nvPicPr>
        <p:blipFill>
          <a:blip r:embed="rId1"/>
          <a:srcRect l="0" r="0" t="36781" b="36781"/>
          <a:stretch/>
        </p:blipFill>
        <p:spPr>
          <a:xfrm>
            <a:off x="0" y="1793863"/>
            <a:ext cx="9144000" cy="1359880"/>
          </a:xfrm>
          <a:prstGeom prst="rect">
            <a:avLst/>
          </a:prstGeom>
        </p:spPr>
      </p:pic>
      <p:pic>
        <p:nvPicPr>
          <p:cNvPr id="6" name="Image 1" descr="E:\AImoney\NovaWay-Matrix\novaway-coder\.tmp\presenton-pptx-deck\momentum\assets\images\replaceable_template_image.png">    </p:cNvPr>
          <p:cNvPicPr>
            <a:picLocks noChangeAspect="1"/>
          </p:cNvPicPr>
          <p:nvPr/>
        </p:nvPicPr>
        <p:blipFill>
          <a:blip r:embed="rId2"/>
          <a:srcRect l="0" r="0" t="-38889" b="-38889"/>
          <a:stretch/>
        </p:blipFill>
        <p:spPr>
          <a:xfrm>
            <a:off x="3775918" y="2739293"/>
            <a:ext cx="1455539" cy="1455539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214" y="2861518"/>
            <a:ext cx="1055377" cy="10553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16375" y="3219710"/>
            <a:ext cx="843980" cy="3500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E3545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52%</a:t>
            </a:r>
            <a:endParaRPr lang="en-US" sz="2100" dirty="0"/>
          </a:p>
        </p:txBody>
      </p:sp>
      <p:sp>
        <p:nvSpPr>
          <p:cNvPr id="9" name="Shape 4"/>
          <p:cNvSpPr/>
          <p:nvPr/>
        </p:nvSpPr>
        <p:spPr>
          <a:xfrm>
            <a:off x="4378337" y="4098727"/>
            <a:ext cx="257175" cy="257175"/>
          </a:xfrm>
          <a:prstGeom prst="rect">
            <a:avLst/>
          </a:prstGeom>
          <a:solidFill>
            <a:srgbClr val="1B43C6"/>
          </a:solidFill>
          <a:ln/>
        </p:spPr>
      </p:sp>
      <p:sp>
        <p:nvSpPr>
          <p:cNvPr id="10" name="Text 5"/>
          <p:cNvSpPr/>
          <p:nvPr/>
        </p:nvSpPr>
        <p:spPr>
          <a:xfrm>
            <a:off x="4025392" y="4382021"/>
            <a:ext cx="1066428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3545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Revenue Growth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771565" y="4564521"/>
            <a:ext cx="1670584" cy="266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800" spc="14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Increase annual sales by 25% through market .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753438" y="4846476"/>
            <a:ext cx="21328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700" spc="12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04738" y="821531"/>
            <a:ext cx="3789795" cy="1350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5000" b="1" spc="-335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Sales Trend</a:t>
            </a:r>
            <a:endParaRPr lang="en-US" sz="500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5000" b="1" spc="-335" kern="0" dirty="0">
                <a:solidFill>
                  <a:srgbClr val="000000"/>
                </a:solidFill>
                <a:latin typeface="Lato Heavy" pitchFamily="34" charset="0"/>
                <a:ea typeface="Lato Heavy" pitchFamily="34" charset="-122"/>
                <a:cs typeface="Lato Heavy" pitchFamily="34" charset="-120"/>
              </a:rPr>
              <a:t>Analysis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04738" y="2100151"/>
            <a:ext cx="3158770" cy="886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spc="16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sales chart illustrates the company's monthly revenue performance over a six-month period. It highlights always consistent upward trend, demonstrating the effectiveness of our sales strategies, marketing initiatives, and customer engagement efforts.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71901" y="325264"/>
            <a:ext cx="4202869" cy="3799359"/>
          </a:xfrm>
          <a:prstGeom prst="rect">
            <a:avLst/>
          </a:prstGeom>
          <a:solidFill>
            <a:srgbClr val="F6F7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738" y="4330564"/>
            <a:ext cx="505532" cy="380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4738" y="4508153"/>
            <a:ext cx="8476434" cy="335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spc="17" kern="0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SALES INCREASED STEADILY FROM $120,000 IN JANUARY TO $205,000 IN JUNE, REPRESENTING APPROXIMATELY 71% GROWTH OVER THE SIX-MONTH PERIOD.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45401" y="4716661"/>
            <a:ext cx="21328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700" spc="12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2026-08-12T08:38:28Z</dcterms:created>
  <dcterms:modified xsi:type="dcterms:W3CDTF">2026-08-12T08:38:28Z</dcterms:modified>
</cp:coreProperties>
</file>