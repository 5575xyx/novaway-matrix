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8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8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8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1485900"/>
            <a:ext cx="3657600" cy="2286000"/>
          </a:xfrm>
          <a:prstGeom prst="rect">
            <a:avLst/>
          </a:prstGeom>
        </p:spPr>
      </p:pic>
      <p:pic>
        <p:nvPicPr>
          <p:cNvPr id="5" name="Image 2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5"/>
          <a:srcRect l="5000" r="5000" t="0" b="0"/>
          <a:stretch/>
        </p:blipFill>
        <p:spPr>
          <a:xfrm>
            <a:off x="628650" y="1485900"/>
            <a:ext cx="3657600" cy="228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00600" y="1050131"/>
            <a:ext cx="2460464" cy="907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7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3375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0600" y="2193131"/>
            <a:ext cx="571500" cy="28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800600" y="2386013"/>
            <a:ext cx="4145393" cy="649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01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0600" y="3364706"/>
            <a:ext cx="3771900" cy="72866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9194" y="3557588"/>
            <a:ext cx="342900" cy="3429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085680" y="3653358"/>
            <a:ext cx="27432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</a:t>
            </a:r>
            <a:endParaRPr lang="en-US" sz="900" dirty="0"/>
          </a:p>
        </p:txBody>
      </p:sp>
      <p:sp>
        <p:nvSpPr>
          <p:cNvPr id="12" name="Text 4"/>
          <p:cNvSpPr/>
          <p:nvPr/>
        </p:nvSpPr>
        <p:spPr>
          <a:xfrm>
            <a:off x="5436394" y="3529013"/>
            <a:ext cx="821531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John Doe</a:t>
            </a:r>
            <a:endParaRPr lang="en-US" sz="1125" dirty="0"/>
          </a:p>
        </p:txBody>
      </p:sp>
      <p:sp>
        <p:nvSpPr>
          <p:cNvPr id="13" name="Text 5"/>
          <p:cNvSpPr/>
          <p:nvPr/>
        </p:nvSpPr>
        <p:spPr>
          <a:xfrm>
            <a:off x="5436394" y="3736181"/>
            <a:ext cx="97891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December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28600"/>
            <a:ext cx="4303913" cy="5643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7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Validation</a:t>
            </a:r>
            <a:endParaRPr lang="en-US" sz="3375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885825"/>
            <a:ext cx="685800" cy="28575"/>
          </a:xfrm>
          <a:prstGeom prst="rect">
            <a:avLst/>
          </a:prstGeom>
        </p:spPr>
      </p:pic>
      <p:pic>
        <p:nvPicPr>
          <p:cNvPr id="7" name="Image 3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6"/>
          <a:srcRect l="3125" r="3125" t="0" b="0"/>
          <a:stretch/>
        </p:blipFill>
        <p:spPr>
          <a:xfrm>
            <a:off x="6286500" y="342900"/>
            <a:ext cx="2286000" cy="13716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71500" y="1850231"/>
            <a:ext cx="82296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700" dirty="0"/>
          </a:p>
        </p:txBody>
      </p:sp>
      <p:sp>
        <p:nvSpPr>
          <p:cNvPr id="9" name="Text 3"/>
          <p:cNvSpPr/>
          <p:nvPr/>
        </p:nvSpPr>
        <p:spPr>
          <a:xfrm>
            <a:off x="1035844" y="1978819"/>
            <a:ext cx="1758595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Insights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1035844" y="2307431"/>
            <a:ext cx="3871234" cy="29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Surveys reveal that 78% of businesses are planning to invest in digital solutions, with 85% preferring customized approaches.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4622006" y="1850231"/>
            <a:ext cx="82296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Text 6"/>
          <p:cNvSpPr/>
          <p:nvPr/>
        </p:nvSpPr>
        <p:spPr>
          <a:xfrm>
            <a:off x="5157788" y="1978819"/>
            <a:ext cx="2141018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 Program Success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157788" y="2307431"/>
            <a:ext cx="3712464" cy="29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survey revealed that 78% of businesses plan to invest in digital solutions, and 85% prefer a tailored approach.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71500" y="2843213"/>
            <a:ext cx="82296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9"/>
          <p:cNvSpPr/>
          <p:nvPr/>
        </p:nvSpPr>
        <p:spPr>
          <a:xfrm>
            <a:off x="1114425" y="2971800"/>
            <a:ext cx="2141018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 Program Success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114425" y="3300413"/>
            <a:ext cx="3712464" cy="29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survey revealed that 78% of businesses plan to invest in digital solutions, and 85% prefer a tailored approach.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622006" y="2843213"/>
            <a:ext cx="82296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700" dirty="0"/>
          </a:p>
        </p:txBody>
      </p:sp>
      <p:sp>
        <p:nvSpPr>
          <p:cNvPr id="18" name="Text 12"/>
          <p:cNvSpPr/>
          <p:nvPr/>
        </p:nvSpPr>
        <p:spPr>
          <a:xfrm>
            <a:off x="5193506" y="2971800"/>
            <a:ext cx="2141018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 Program Success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193506" y="3300413"/>
            <a:ext cx="3712464" cy="29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survey revealed that 78% of businesses plan to invest in digital solutions, and 85% prefer a tailored approach.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1314450"/>
            <a:ext cx="3657600" cy="2286000"/>
          </a:xfrm>
          <a:prstGeom prst="rect">
            <a:avLst/>
          </a:prstGeom>
        </p:spPr>
      </p:pic>
      <p:pic>
        <p:nvPicPr>
          <p:cNvPr id="5" name="Image 2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5"/>
          <a:srcRect l="5000" r="5000" t="0" b="0"/>
          <a:stretch/>
        </p:blipFill>
        <p:spPr>
          <a:xfrm>
            <a:off x="628650" y="1314450"/>
            <a:ext cx="3657600" cy="228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00600" y="1310655"/>
            <a:ext cx="2460464" cy="907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7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3375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0600" y="2453655"/>
            <a:ext cx="571500" cy="285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800600" y="2594521"/>
            <a:ext cx="4145393" cy="649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0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14300"/>
            <a:ext cx="2956508" cy="5643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7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Size</a:t>
            </a:r>
            <a:endParaRPr lang="en-US" sz="3375" dirty="0"/>
          </a:p>
        </p:txBody>
      </p:sp>
      <p:sp>
        <p:nvSpPr>
          <p:cNvPr id="5" name="Text 2"/>
          <p:cNvSpPr/>
          <p:nvPr/>
        </p:nvSpPr>
        <p:spPr>
          <a:xfrm>
            <a:off x="571500" y="764381"/>
            <a:ext cx="6177897" cy="29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Businesses face challenges with outdated technology and rising costs, limiting efficiency and growth in competitive markets.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371600"/>
            <a:ext cx="5486400" cy="35433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726877"/>
            <a:ext cx="2286000" cy="115371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97799" y="1031267"/>
            <a:ext cx="142875" cy="142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4"/>
          <p:cNvSpPr/>
          <p:nvPr/>
        </p:nvSpPr>
        <p:spPr>
          <a:xfrm>
            <a:off x="6775624" y="863947"/>
            <a:ext cx="1746093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Addressable Market</a:t>
            </a:r>
            <a:endParaRPr lang="en-US" sz="1013" dirty="0"/>
          </a:p>
        </p:txBody>
      </p:sp>
      <p:sp>
        <p:nvSpPr>
          <p:cNvPr id="10" name="Text 5"/>
          <p:cNvSpPr/>
          <p:nvPr/>
        </p:nvSpPr>
        <p:spPr>
          <a:xfrm>
            <a:off x="6457950" y="1376958"/>
            <a:ext cx="2112014" cy="265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can use TAM to plan future expansion and investment.</a:t>
            </a:r>
            <a:endParaRPr lang="en-US" sz="788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1994892"/>
            <a:ext cx="2286000" cy="115371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485855" y="2299283"/>
            <a:ext cx="142875" cy="142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7"/>
          <p:cNvSpPr/>
          <p:nvPr/>
        </p:nvSpPr>
        <p:spPr>
          <a:xfrm>
            <a:off x="6742472" y="2159198"/>
            <a:ext cx="1489561" cy="330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Serviceable Available Market</a:t>
            </a:r>
            <a:endParaRPr lang="en-US" sz="1013" dirty="0"/>
          </a:p>
        </p:txBody>
      </p:sp>
      <p:sp>
        <p:nvSpPr>
          <p:cNvPr id="14" name="Text 8"/>
          <p:cNvSpPr/>
          <p:nvPr/>
        </p:nvSpPr>
        <p:spPr>
          <a:xfrm>
            <a:off x="6457950" y="2644973"/>
            <a:ext cx="1885736" cy="265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Indicates more measurable market segments for sales efforts.</a:t>
            </a:r>
            <a:endParaRPr lang="en-US" sz="788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3262908"/>
            <a:ext cx="2286000" cy="11537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480721" y="3567299"/>
            <a:ext cx="142875" cy="142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0"/>
          <p:cNvSpPr/>
          <p:nvPr/>
        </p:nvSpPr>
        <p:spPr>
          <a:xfrm>
            <a:off x="6731980" y="3427214"/>
            <a:ext cx="1632204" cy="330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Serviceable Obtainable Market</a:t>
            </a:r>
            <a:endParaRPr lang="en-US" sz="1013" dirty="0"/>
          </a:p>
        </p:txBody>
      </p:sp>
      <p:sp>
        <p:nvSpPr>
          <p:cNvPr id="18" name="Text 11"/>
          <p:cNvSpPr/>
          <p:nvPr/>
        </p:nvSpPr>
        <p:spPr>
          <a:xfrm>
            <a:off x="6457950" y="3912989"/>
            <a:ext cx="1903738" cy="265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Help companies plan development strategies according to the market.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29100"/>
            <a:ext cx="1371600" cy="9144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115300" y="571500"/>
            <a:ext cx="228600" cy="228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800100"/>
            <a:ext cx="571500" cy="1428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80541" y="161962"/>
            <a:ext cx="2937756" cy="6786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Solutions</a:t>
            </a:r>
            <a:endParaRPr lang="en-US" sz="40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593" y="1505099"/>
            <a:ext cx="342900" cy="342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26318" y="1592945"/>
            <a:ext cx="171450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4"/>
          <p:cNvSpPr/>
          <p:nvPr/>
        </p:nvSpPr>
        <p:spPr>
          <a:xfrm>
            <a:off x="1097793" y="1490811"/>
            <a:ext cx="1313111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 Software</a:t>
            </a:r>
            <a:endParaRPr lang="en-US" sz="1125" dirty="0"/>
          </a:p>
        </p:txBody>
      </p:sp>
      <p:sp>
        <p:nvSpPr>
          <p:cNvPr id="12" name="Text 5"/>
          <p:cNvSpPr/>
          <p:nvPr/>
        </p:nvSpPr>
        <p:spPr>
          <a:xfrm>
            <a:off x="1106835" y="1726555"/>
            <a:ext cx="1649331" cy="39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create tailored software to optimize processes and boost efficiency.</a:t>
            </a:r>
            <a:endParaRPr lang="en-US" sz="788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40918" y="1505099"/>
            <a:ext cx="342900" cy="34290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326643" y="1592945"/>
            <a:ext cx="171450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7"/>
          <p:cNvSpPr/>
          <p:nvPr/>
        </p:nvSpPr>
        <p:spPr>
          <a:xfrm>
            <a:off x="3698118" y="1490811"/>
            <a:ext cx="1373297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Consulting</a:t>
            </a:r>
            <a:endParaRPr lang="en-US" sz="1125" dirty="0"/>
          </a:p>
        </p:txBody>
      </p:sp>
      <p:sp>
        <p:nvSpPr>
          <p:cNvPr id="16" name="Text 8"/>
          <p:cNvSpPr/>
          <p:nvPr/>
        </p:nvSpPr>
        <p:spPr>
          <a:xfrm>
            <a:off x="3688966" y="1708472"/>
            <a:ext cx="1980248" cy="39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consultants guide organizations in leveraging the latest technologies.</a:t>
            </a:r>
            <a:endParaRPr lang="en-US" sz="788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593" y="2621868"/>
            <a:ext cx="342900" cy="34290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26318" y="2709714"/>
            <a:ext cx="171450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0"/>
          <p:cNvSpPr/>
          <p:nvPr/>
        </p:nvSpPr>
        <p:spPr>
          <a:xfrm>
            <a:off x="1097793" y="2607580"/>
            <a:ext cx="1297484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Services</a:t>
            </a:r>
            <a:endParaRPr lang="en-US" sz="1125" dirty="0"/>
          </a:p>
        </p:txBody>
      </p:sp>
      <p:sp>
        <p:nvSpPr>
          <p:cNvPr id="20" name="Text 11"/>
          <p:cNvSpPr/>
          <p:nvPr/>
        </p:nvSpPr>
        <p:spPr>
          <a:xfrm>
            <a:off x="1097793" y="2843324"/>
            <a:ext cx="1953244" cy="39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provide ongoing support to help businesses adapt and maintain performance.</a:t>
            </a:r>
            <a:endParaRPr lang="en-US" sz="788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40918" y="2621868"/>
            <a:ext cx="342900" cy="34290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3326643" y="2709714"/>
            <a:ext cx="171450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3"/>
          <p:cNvSpPr/>
          <p:nvPr/>
        </p:nvSpPr>
        <p:spPr>
          <a:xfrm>
            <a:off x="3698118" y="2607580"/>
            <a:ext cx="1458557" cy="1857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Scalable Marketing</a:t>
            </a:r>
            <a:endParaRPr lang="en-US" sz="1125" dirty="0"/>
          </a:p>
        </p:txBody>
      </p:sp>
      <p:sp>
        <p:nvSpPr>
          <p:cNvPr id="24" name="Text 14"/>
          <p:cNvSpPr/>
          <p:nvPr/>
        </p:nvSpPr>
        <p:spPr>
          <a:xfrm>
            <a:off x="3698118" y="2843324"/>
            <a:ext cx="1873859" cy="39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data-driven strategies help businesses expand their reach and engagement.</a:t>
            </a:r>
            <a:endParaRPr lang="en-US" sz="788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29300" y="1485900"/>
            <a:ext cx="2743200" cy="2286000"/>
          </a:xfrm>
          <a:prstGeom prst="rect">
            <a:avLst/>
          </a:prstGeom>
        </p:spPr>
      </p:pic>
      <p:pic>
        <p:nvPicPr>
          <p:cNvPr id="26" name="Image 9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16"/>
          <a:srcRect l="16250" r="16250" t="0" b="0"/>
          <a:stretch/>
        </p:blipFill>
        <p:spPr>
          <a:xfrm>
            <a:off x="5829300" y="14859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0500"/>
            <a:ext cx="2286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400175"/>
            <a:ext cx="2637941" cy="907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75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Team Members</a:t>
            </a:r>
            <a:endParaRPr lang="en-US" sz="3375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2543175"/>
            <a:ext cx="571500" cy="285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2736056"/>
            <a:ext cx="4141393" cy="649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Ginyard International Co. is a leading provider of innovative digital solutions tailored for businesses. Our mission is to empower organizations to achieve their goals through cutting-edge technology and strategic partnerships.</a:t>
            </a:r>
            <a:endParaRPr lang="en-US" sz="1013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3513" y="725091"/>
            <a:ext cx="914400" cy="914400"/>
          </a:xfrm>
          <a:prstGeom prst="rect">
            <a:avLst/>
          </a:prstGeom>
        </p:spPr>
      </p:pic>
      <p:pic>
        <p:nvPicPr>
          <p:cNvPr id="9" name="Image 4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8"/>
          <a:srcRect l="21875" r="21875" t="0" b="0"/>
          <a:stretch/>
        </p:blipFill>
        <p:spPr>
          <a:xfrm>
            <a:off x="5243513" y="725091"/>
            <a:ext cx="914400" cy="9144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339395" y="1718072"/>
            <a:ext cx="865398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Juliana Silva</a:t>
            </a:r>
            <a:endParaRPr lang="en-US" sz="1013" dirty="0"/>
          </a:p>
        </p:txBody>
      </p:sp>
      <p:sp>
        <p:nvSpPr>
          <p:cNvPr id="11" name="Text 4"/>
          <p:cNvSpPr/>
          <p:nvPr/>
        </p:nvSpPr>
        <p:spPr>
          <a:xfrm>
            <a:off x="5606058" y="1910953"/>
            <a:ext cx="310039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88" i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CEO</a:t>
            </a:r>
            <a:endParaRPr lang="en-US" sz="788" dirty="0"/>
          </a:p>
        </p:txBody>
      </p:sp>
      <p:sp>
        <p:nvSpPr>
          <p:cNvPr id="12" name="Text 5"/>
          <p:cNvSpPr/>
          <p:nvPr/>
        </p:nvSpPr>
        <p:spPr>
          <a:xfrm>
            <a:off x="4885432" y="2118122"/>
            <a:ext cx="1870734" cy="337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leader with 15+ years experience in digital transformation and business growth.</a:t>
            </a:r>
            <a:endParaRPr lang="en-US" sz="675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15188" y="725091"/>
            <a:ext cx="914400" cy="914400"/>
          </a:xfrm>
          <a:prstGeom prst="rect">
            <a:avLst/>
          </a:prstGeom>
        </p:spPr>
      </p:pic>
      <p:pic>
        <p:nvPicPr>
          <p:cNvPr id="14" name="Image 6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11"/>
          <a:srcRect l="21875" r="21875" t="0" b="0"/>
          <a:stretch/>
        </p:blipFill>
        <p:spPr>
          <a:xfrm>
            <a:off x="7215188" y="725091"/>
            <a:ext cx="914400" cy="9144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7229587" y="1718072"/>
            <a:ext cx="1028477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Gallego</a:t>
            </a:r>
            <a:endParaRPr lang="en-US" sz="1013" dirty="0"/>
          </a:p>
        </p:txBody>
      </p:sp>
      <p:sp>
        <p:nvSpPr>
          <p:cNvPr id="16" name="Text 7"/>
          <p:cNvSpPr/>
          <p:nvPr/>
        </p:nvSpPr>
        <p:spPr>
          <a:xfrm>
            <a:off x="7579072" y="1910953"/>
            <a:ext cx="310039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88" i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CTO</a:t>
            </a:r>
            <a:endParaRPr lang="en-US" sz="788" dirty="0"/>
          </a:p>
        </p:txBody>
      </p:sp>
      <p:sp>
        <p:nvSpPr>
          <p:cNvPr id="17" name="Text 8"/>
          <p:cNvSpPr/>
          <p:nvPr/>
        </p:nvSpPr>
        <p:spPr>
          <a:xfrm>
            <a:off x="7000540" y="2118122"/>
            <a:ext cx="1549444" cy="337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expert specializing in scalable solutions and innovative software architecture.</a:t>
            </a:r>
            <a:endParaRPr lang="en-US" sz="675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43513" y="2716411"/>
            <a:ext cx="914400" cy="914400"/>
          </a:xfrm>
          <a:prstGeom prst="rect">
            <a:avLst/>
          </a:prstGeom>
        </p:spPr>
      </p:pic>
      <p:pic>
        <p:nvPicPr>
          <p:cNvPr id="19" name="Image 8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14"/>
          <a:srcRect l="21875" r="21875" t="0" b="0"/>
          <a:stretch/>
        </p:blipFill>
        <p:spPr>
          <a:xfrm>
            <a:off x="5243513" y="2716411"/>
            <a:ext cx="914400" cy="9144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343302" y="3709392"/>
            <a:ext cx="857696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Ketut Susilo</a:t>
            </a:r>
            <a:endParaRPr lang="en-US" sz="1013" dirty="0"/>
          </a:p>
        </p:txBody>
      </p:sp>
      <p:sp>
        <p:nvSpPr>
          <p:cNvPr id="21" name="Text 10"/>
          <p:cNvSpPr/>
          <p:nvPr/>
        </p:nvSpPr>
        <p:spPr>
          <a:xfrm>
            <a:off x="5593556" y="3902273"/>
            <a:ext cx="328613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88" i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</a:t>
            </a:r>
            <a:endParaRPr lang="en-US" sz="788" dirty="0"/>
          </a:p>
        </p:txBody>
      </p:sp>
      <p:sp>
        <p:nvSpPr>
          <p:cNvPr id="22" name="Text 11"/>
          <p:cNvSpPr/>
          <p:nvPr/>
        </p:nvSpPr>
        <p:spPr>
          <a:xfrm>
            <a:off x="4885432" y="4109442"/>
            <a:ext cx="1870609" cy="337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 leader focused on efficiency, process optimization, and team development.</a:t>
            </a:r>
            <a:endParaRPr lang="en-US" sz="675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15188" y="2716411"/>
            <a:ext cx="914400" cy="914400"/>
          </a:xfrm>
          <a:prstGeom prst="rect">
            <a:avLst/>
          </a:prstGeom>
        </p:spPr>
      </p:pic>
      <p:pic>
        <p:nvPicPr>
          <p:cNvPr id="24" name="Image 10" descr="E:\AImoney\NovaWay-Matrix\novaway-coder\.tmp\presenton-pptx-deck\general\assets\images\replaceable_template_image.png">    </p:cNvPr>
          <p:cNvPicPr>
            <a:picLocks noChangeAspect="1"/>
          </p:cNvPicPr>
          <p:nvPr/>
        </p:nvPicPr>
        <p:blipFill>
          <a:blip r:embed="rId17"/>
          <a:srcRect l="21875" r="21875" t="0" b="0"/>
          <a:stretch/>
        </p:blipFill>
        <p:spPr>
          <a:xfrm>
            <a:off x="7215188" y="2716411"/>
            <a:ext cx="914400" cy="9144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181255" y="3709392"/>
            <a:ext cx="1125029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13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Robertson</a:t>
            </a:r>
            <a:endParaRPr lang="en-US" sz="1013" dirty="0"/>
          </a:p>
        </p:txBody>
      </p:sp>
      <p:sp>
        <p:nvSpPr>
          <p:cNvPr id="26" name="Text 13"/>
          <p:cNvSpPr/>
          <p:nvPr/>
        </p:nvSpPr>
        <p:spPr>
          <a:xfrm>
            <a:off x="7556413" y="3902273"/>
            <a:ext cx="34613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788" i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CMO</a:t>
            </a:r>
            <a:endParaRPr lang="en-US" sz="788" dirty="0"/>
          </a:p>
        </p:txBody>
      </p:sp>
      <p:sp>
        <p:nvSpPr>
          <p:cNvPr id="27" name="Text 14"/>
          <p:cNvSpPr/>
          <p:nvPr/>
        </p:nvSpPr>
        <p:spPr>
          <a:xfrm>
            <a:off x="6916043" y="4109442"/>
            <a:ext cx="1738717" cy="337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strategist with expertise in brand development and customer engagement.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2026-08-12T08:38:12Z</dcterms:created>
  <dcterms:modified xsi:type="dcterms:W3CDTF">2026-08-12T08:38:12Z</dcterms:modified>
</cp:coreProperties>
</file>