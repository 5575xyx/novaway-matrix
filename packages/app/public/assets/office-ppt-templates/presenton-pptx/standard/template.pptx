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svg"/><Relationship Id="rId6" Type="http://schemas.openxmlformats.org/officeDocument/2006/relationships/image" Target="../media/image-3-6.png"/><Relationship Id="rId7" Type="http://schemas.openxmlformats.org/officeDocument/2006/relationships/image" Target="../media/image-3-7.sv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9.png"/><Relationship Id="rId10" Type="http://schemas.openxmlformats.org/officeDocument/2006/relationships/image" Target="../media/image-5-10.svg"/><Relationship Id="rId11" Type="http://schemas.openxmlformats.org/officeDocument/2006/relationships/image" Target="../media/image-5-11.png"/><Relationship Id="rId12" Type="http://schemas.openxmlformats.org/officeDocument/2006/relationships/image" Target="../media/image-5-12.svg"/><Relationship Id="rId13" Type="http://schemas.openxmlformats.org/officeDocument/2006/relationships/image" Target="../media/image-5-13.png"/><Relationship Id="rId14" Type="http://schemas.openxmlformats.org/officeDocument/2006/relationships/image" Target="../media/image-5-14.svg"/><Relationship Id="rId15" Type="http://schemas.openxmlformats.org/officeDocument/2006/relationships/image" Target="../media/image-5-15.png"/><Relationship Id="rId16" Type="http://schemas.openxmlformats.org/officeDocument/2006/relationships/image" Target="../media/image-5-16.sv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image" Target="../media/image-6-9.png"/><Relationship Id="rId10" Type="http://schemas.openxmlformats.org/officeDocument/2006/relationships/image" Target="../media/image-6-10.svg"/><Relationship Id="rId11" Type="http://schemas.openxmlformats.org/officeDocument/2006/relationships/image" Target="../media/image-6-11.png"/><Relationship Id="rId12" Type="http://schemas.openxmlformats.org/officeDocument/2006/relationships/image" Target="../media/image-6-12.svg"/><Relationship Id="rId13" Type="http://schemas.openxmlformats.org/officeDocument/2006/relationships/image" Target="../media/image-6-13.png"/><Relationship Id="rId14" Type="http://schemas.openxmlformats.org/officeDocument/2006/relationships/image" Target="../media/image-6-14.svg"/><Relationship Id="rId15" Type="http://schemas.openxmlformats.org/officeDocument/2006/relationships/image" Target="../media/image-6-15.png"/><Relationship Id="rId16" Type="http://schemas.openxmlformats.org/officeDocument/2006/relationships/image" Target="../media/image-6-16.svg"/><Relationship Id="rId17" Type="http://schemas.openxmlformats.org/officeDocument/2006/relationships/image" Target="../media/image-6-17.png"/><Relationship Id="rId18" Type="http://schemas.openxmlformats.org/officeDocument/2006/relationships/image" Target="../media/image-6-18.svg"/><Relationship Id="rId19" Type="http://schemas.openxmlformats.org/officeDocument/2006/relationships/image" Target="../media/image-6-19.png"/><Relationship Id="rId20" Type="http://schemas.openxmlformats.org/officeDocument/2006/relationships/image" Target="../media/image-6-20.svg"/><Relationship Id="rId21" Type="http://schemas.openxmlformats.org/officeDocument/2006/relationships/image" Target="../media/image-6-21.png"/><Relationship Id="rId22" Type="http://schemas.openxmlformats.org/officeDocument/2006/relationships/image" Target="../media/image-6-22.svg"/><Relationship Id="rId23" Type="http://schemas.openxmlformats.org/officeDocument/2006/relationships/image" Target="../media/image-6-23.png"/><Relationship Id="rId24" Type="http://schemas.openxmlformats.org/officeDocument/2006/relationships/image" Target="../media/image-6-24.svg"/><Relationship Id="rId25" Type="http://schemas.openxmlformats.org/officeDocument/2006/relationships/image" Target="../media/image-6-25.png"/><Relationship Id="rId26" Type="http://schemas.openxmlformats.org/officeDocument/2006/relationships/image" Target="../media/image-6-26.svg"/><Relationship Id="rId27" Type="http://schemas.openxmlformats.org/officeDocument/2006/relationships/image" Target="../media/image-6-27.png"/><Relationship Id="rId28" Type="http://schemas.openxmlformats.org/officeDocument/2006/relationships/image" Target="../media/image-6-28.svg"/><Relationship Id="rId29" Type="http://schemas.openxmlformats.org/officeDocument/2006/relationships/image" Target="../media/image-6-29.png"/><Relationship Id="rId30" Type="http://schemas.openxmlformats.org/officeDocument/2006/relationships/image" Target="../media/image-6-30.svg"/><Relationship Id="rId31" Type="http://schemas.openxmlformats.org/officeDocument/2006/relationships/image" Target="../media/image-6-31.png"/><Relationship Id="rId32" Type="http://schemas.openxmlformats.org/officeDocument/2006/relationships/image" Target="../media/image-6-32.svg"/><Relationship Id="rId33" Type="http://schemas.openxmlformats.org/officeDocument/2006/relationships/image" Target="../media/image-6-33.png"/><Relationship Id="rId34" Type="http://schemas.openxmlformats.org/officeDocument/2006/relationships/image" Target="../media/image-6-34.svg"/><Relationship Id="rId35" Type="http://schemas.openxmlformats.org/officeDocument/2006/relationships/image" Target="../media/image-6-35.png"/><Relationship Id="rId36" Type="http://schemas.openxmlformats.org/officeDocument/2006/relationships/image" Target="../media/image-6-36.svg"/><Relationship Id="rId37" Type="http://schemas.openxmlformats.org/officeDocument/2006/relationships/slideLayout" Target="../slideLayouts/slideLayout1.xml"/><Relationship Id="rId38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E:\AImoney\NovaWay-Matrix\novaway-coder\.tmp\presenton-pptx-deck\standard\assets\images\replaceable_template_ima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1450"/>
            <a:ext cx="4572000" cy="46863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972050" y="514350"/>
            <a:ext cx="4270034" cy="9957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3600" dirty="0">
                <a:solidFill>
                  <a:srgbClr val="11182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Introduction Our Pitchdeck</a:t>
            </a:r>
            <a:endParaRPr lang="en-US" sz="3600" dirty="0"/>
          </a:p>
        </p:txBody>
      </p:sp>
      <p:sp>
        <p:nvSpPr>
          <p:cNvPr id="6" name="Text 2"/>
          <p:cNvSpPr/>
          <p:nvPr/>
        </p:nvSpPr>
        <p:spPr>
          <a:xfrm>
            <a:off x="4972050" y="1828800"/>
            <a:ext cx="3972371" cy="4699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Lorem ipsum dolor sit amet, consectetur adipiscing elit, sed do eiusmod tempor incididunt ut labore et dolore magna aliqua. Ut enim ad minim veniam, quis nostrud exercitation ullamco laboris</a:t>
            </a:r>
            <a:endParaRPr lang="en-US" sz="900" dirty="0"/>
          </a:p>
        </p:txBody>
      </p:sp>
      <p:sp>
        <p:nvSpPr>
          <p:cNvPr id="7" name="Shape 3"/>
          <p:cNvSpPr/>
          <p:nvPr/>
        </p:nvSpPr>
        <p:spPr>
          <a:xfrm>
            <a:off x="4972050" y="2712169"/>
            <a:ext cx="2857500" cy="642938"/>
          </a:xfrm>
          <a:prstGeom prst="rect">
            <a:avLst/>
          </a:prstGeom>
          <a:solidFill>
            <a:srgbClr val="FFFFFF"/>
          </a:solidFill>
          <a:ln w="7144">
            <a:solidFill>
              <a:srgbClr val="E5E7EB"/>
            </a:solidFill>
            <a:prstDash val="solid"/>
          </a:ln>
          <a:effectLst>
            <a:outerShdw sx="100000" sy="100000" kx="0" ky="0" algn="bl" rotWithShape="0" blurRad="228600" dist="95250" dir="16200000">
              <a:srgbClr val="000000">
                <a:alpha val="8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5129213" y="2812182"/>
            <a:ext cx="457200" cy="457200"/>
          </a:xfrm>
          <a:prstGeom prst="roundRect">
            <a:avLst>
              <a:gd name="adj" fmla="val 15000"/>
            </a:avLst>
          </a:prstGeom>
          <a:solidFill>
            <a:srgbClr val="1B8C2D"/>
          </a:solidFill>
          <a:ln/>
        </p:spPr>
      </p:sp>
      <p:sp>
        <p:nvSpPr>
          <p:cNvPr id="9" name="Text 5"/>
          <p:cNvSpPr/>
          <p:nvPr/>
        </p:nvSpPr>
        <p:spPr>
          <a:xfrm>
            <a:off x="5191944" y="2932175"/>
            <a:ext cx="488900" cy="207169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38" b="1" spc="31" kern="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PDT</a:t>
            </a:r>
            <a:endParaRPr lang="en-US" sz="1238" dirty="0"/>
          </a:p>
        </p:txBody>
      </p:sp>
      <p:sp>
        <p:nvSpPr>
          <p:cNvPr id="10" name="Text 6"/>
          <p:cNvSpPr/>
          <p:nvPr/>
        </p:nvSpPr>
        <p:spPr>
          <a:xfrm>
            <a:off x="5700713" y="2858616"/>
            <a:ext cx="1389236" cy="207169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8" dirty="0">
                <a:solidFill>
                  <a:srgbClr val="11182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Pitch Deck Team</a:t>
            </a:r>
            <a:endParaRPr lang="en-US" sz="1238" dirty="0"/>
          </a:p>
        </p:txBody>
      </p:sp>
      <p:sp>
        <p:nvSpPr>
          <p:cNvPr id="11" name="Text 7"/>
          <p:cNvSpPr/>
          <p:nvPr/>
        </p:nvSpPr>
        <p:spPr>
          <a:xfrm>
            <a:off x="5700713" y="3072929"/>
            <a:ext cx="1113014" cy="14287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44" dirty="0">
                <a:solidFill>
                  <a:srgbClr val="1B8C2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December 22, 2025</a:t>
            </a:r>
            <a:endParaRPr lang="en-US" sz="844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14900" y="1634468"/>
            <a:ext cx="3091793" cy="9911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3600" spc="-90" kern="0" dirty="0">
                <a:solidFill>
                  <a:srgbClr val="11182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Insights At A</a:t>
            </a:r>
            <a:endParaRPr lang="en-US" sz="3600" dirty="0"/>
          </a:p>
          <a:p>
            <a:pPr algn="l" indent="0" marL="0">
              <a:lnSpc>
                <a:spcPct val="84000"/>
              </a:lnSpc>
              <a:buNone/>
            </a:pPr>
            <a:r>
              <a:rPr lang="en-US" sz="3600" spc="-90" kern="0" dirty="0">
                <a:solidFill>
                  <a:srgbClr val="11182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Glance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4914900" y="2880159"/>
            <a:ext cx="3882360" cy="309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Lorem ipsum dolor sit amet, consectetur adipiscing elit, sed do eiusmod tempor incididunt ut labore et dolore magna aliqua.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E:\AImoney\NovaWay-Matrix\novaway-coder\.tmp\presenton-pptx-deck\standard\assets\images\replaceable_template_ima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50" y="285750"/>
            <a:ext cx="4572000" cy="42862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314950" y="185738"/>
            <a:ext cx="3509590" cy="10186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dirty="0">
                <a:solidFill>
                  <a:srgbClr val="11182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Let’s Get in</a:t>
            </a:r>
            <a:endParaRPr lang="en-US" sz="36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3600" dirty="0">
                <a:solidFill>
                  <a:srgbClr val="11182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Touch with Us</a:t>
            </a:r>
            <a:endParaRPr lang="en-US" sz="3600" dirty="0"/>
          </a:p>
        </p:txBody>
      </p:sp>
      <p:sp>
        <p:nvSpPr>
          <p:cNvPr id="6" name="Text 2"/>
          <p:cNvSpPr/>
          <p:nvPr/>
        </p:nvSpPr>
        <p:spPr>
          <a:xfrm>
            <a:off x="5314950" y="1523963"/>
            <a:ext cx="830461" cy="22145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1182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Address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5314950" y="1838288"/>
            <a:ext cx="3444055" cy="17145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13" dirty="0">
                <a:solidFill>
                  <a:srgbClr val="6B728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Boston, Downtown Main Street 233, New York, US</a:t>
            </a:r>
            <a:endParaRPr lang="en-US" sz="1013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14950" y="2216907"/>
            <a:ext cx="3543300" cy="714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314950" y="2381213"/>
            <a:ext cx="693837" cy="22145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1182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Phone</a:t>
            </a:r>
            <a:endParaRPr lang="en-US" sz="1350" dirty="0"/>
          </a:p>
        </p:txBody>
      </p:sp>
      <p:sp>
        <p:nvSpPr>
          <p:cNvPr id="10" name="Text 5"/>
          <p:cNvSpPr/>
          <p:nvPr/>
        </p:nvSpPr>
        <p:spPr>
          <a:xfrm>
            <a:off x="5314950" y="2695538"/>
            <a:ext cx="1205526" cy="17145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13" dirty="0">
                <a:solidFill>
                  <a:srgbClr val="6B728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+1234 2345 1234</a:t>
            </a:r>
            <a:endParaRPr lang="en-US" sz="1013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314950" y="3074157"/>
            <a:ext cx="3543300" cy="714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314950" y="3238463"/>
            <a:ext cx="727881" cy="22145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1182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E-mail:</a:t>
            </a:r>
            <a:endParaRPr lang="en-US" sz="1350" dirty="0"/>
          </a:p>
        </p:txBody>
      </p:sp>
      <p:sp>
        <p:nvSpPr>
          <p:cNvPr id="13" name="Text 7"/>
          <p:cNvSpPr/>
          <p:nvPr/>
        </p:nvSpPr>
        <p:spPr>
          <a:xfrm>
            <a:off x="5314950" y="3552788"/>
            <a:ext cx="1396800" cy="17145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13" dirty="0">
                <a:solidFill>
                  <a:srgbClr val="6B728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mail@company.com</a:t>
            </a:r>
            <a:endParaRPr lang="en-US" sz="1013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E:\AImoney\NovaWay-Matrix\novaway-coder\.tmp\presenton-pptx-deck\standard\assets\images\replaceable_template_ima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2000" cy="514350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514850"/>
            <a:ext cx="4572000" cy="628650"/>
          </a:xfrm>
          <a:prstGeom prst="rect">
            <a:avLst/>
          </a:prstGeom>
        </p:spPr>
      </p:pic>
      <p:pic>
        <p:nvPicPr>
          <p:cNvPr id="6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7200" y="171450"/>
            <a:ext cx="1571625" cy="14288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4914900" y="357188"/>
            <a:ext cx="3491843" cy="10186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spc="-90" kern="0" dirty="0">
                <a:solidFill>
                  <a:srgbClr val="11182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 Blueprint for</a:t>
            </a:r>
            <a:endParaRPr lang="en-US" sz="36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3600" spc="-90" kern="0" dirty="0">
                <a:solidFill>
                  <a:srgbClr val="11182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Success</a:t>
            </a:r>
            <a:endParaRPr lang="en-US" sz="3600" dirty="0"/>
          </a:p>
        </p:txBody>
      </p:sp>
      <p:pic>
        <p:nvPicPr>
          <p:cNvPr id="8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28700" y="2286000"/>
            <a:ext cx="7829550" cy="1800225"/>
          </a:xfrm>
          <a:prstGeom prst="rect">
            <a:avLst/>
          </a:prstGeom>
        </p:spPr>
      </p:pic>
      <p:sp>
        <p:nvSpPr>
          <p:cNvPr id="9" name="Shape 2"/>
          <p:cNvSpPr/>
          <p:nvPr/>
        </p:nvSpPr>
        <p:spPr>
          <a:xfrm>
            <a:off x="1262658" y="2571750"/>
            <a:ext cx="1714500" cy="457200"/>
          </a:xfrm>
          <a:prstGeom prst="rect">
            <a:avLst/>
          </a:prstGeom>
          <a:solidFill>
            <a:srgbClr val="1B8C2D"/>
          </a:solidFill>
          <a:ln/>
        </p:spPr>
      </p:sp>
      <p:sp>
        <p:nvSpPr>
          <p:cNvPr id="10" name="Text 3"/>
          <p:cNvSpPr/>
          <p:nvPr/>
        </p:nvSpPr>
        <p:spPr>
          <a:xfrm>
            <a:off x="1694073" y="2691743"/>
            <a:ext cx="1008831" cy="207169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38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Strategy 01</a:t>
            </a:r>
            <a:endParaRPr lang="en-US" sz="1238" dirty="0"/>
          </a:p>
        </p:txBody>
      </p:sp>
      <p:sp>
        <p:nvSpPr>
          <p:cNvPr id="11" name="Text 4"/>
          <p:cNvSpPr/>
          <p:nvPr/>
        </p:nvSpPr>
        <p:spPr>
          <a:xfrm>
            <a:off x="1279289" y="3200400"/>
            <a:ext cx="1920740" cy="4699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Lorem ipsum dolor sit amet, consectetur adipiscing elit, sed do eiusmod tempor</a:t>
            </a:r>
            <a:endParaRPr lang="en-US" sz="900" dirty="0"/>
          </a:p>
        </p:txBody>
      </p:sp>
      <p:sp>
        <p:nvSpPr>
          <p:cNvPr id="12" name="Shape 5"/>
          <p:cNvSpPr/>
          <p:nvPr/>
        </p:nvSpPr>
        <p:spPr>
          <a:xfrm>
            <a:off x="3145036" y="2571750"/>
            <a:ext cx="1714500" cy="457200"/>
          </a:xfrm>
          <a:prstGeom prst="rect">
            <a:avLst/>
          </a:prstGeom>
          <a:solidFill>
            <a:srgbClr val="1B8C2D"/>
          </a:solidFill>
          <a:ln/>
        </p:spPr>
      </p:sp>
      <p:sp>
        <p:nvSpPr>
          <p:cNvPr id="13" name="Text 6"/>
          <p:cNvSpPr/>
          <p:nvPr/>
        </p:nvSpPr>
        <p:spPr>
          <a:xfrm>
            <a:off x="3576451" y="2691743"/>
            <a:ext cx="1008831" cy="207169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38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Strategy 02</a:t>
            </a:r>
            <a:endParaRPr lang="en-US" sz="1238" dirty="0"/>
          </a:p>
        </p:txBody>
      </p:sp>
      <p:sp>
        <p:nvSpPr>
          <p:cNvPr id="14" name="Text 7"/>
          <p:cNvSpPr/>
          <p:nvPr/>
        </p:nvSpPr>
        <p:spPr>
          <a:xfrm>
            <a:off x="3161667" y="3200400"/>
            <a:ext cx="1920740" cy="4699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Lorem ipsum dolor sit amet, consectetur adipiscing elit, sed do eiusmod tempor</a:t>
            </a:r>
            <a:endParaRPr lang="en-US" sz="900" dirty="0"/>
          </a:p>
        </p:txBody>
      </p:sp>
      <p:sp>
        <p:nvSpPr>
          <p:cNvPr id="15" name="Shape 8"/>
          <p:cNvSpPr/>
          <p:nvPr/>
        </p:nvSpPr>
        <p:spPr>
          <a:xfrm>
            <a:off x="5027414" y="2571750"/>
            <a:ext cx="1714500" cy="457200"/>
          </a:xfrm>
          <a:prstGeom prst="rect">
            <a:avLst/>
          </a:prstGeom>
          <a:solidFill>
            <a:srgbClr val="1B8C2D"/>
          </a:solidFill>
          <a:ln/>
        </p:spPr>
      </p:sp>
      <p:sp>
        <p:nvSpPr>
          <p:cNvPr id="16" name="Text 9"/>
          <p:cNvSpPr/>
          <p:nvPr/>
        </p:nvSpPr>
        <p:spPr>
          <a:xfrm>
            <a:off x="5458830" y="2691743"/>
            <a:ext cx="1008831" cy="207169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38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Strategy 03</a:t>
            </a:r>
            <a:endParaRPr lang="en-US" sz="1238" dirty="0"/>
          </a:p>
        </p:txBody>
      </p:sp>
      <p:sp>
        <p:nvSpPr>
          <p:cNvPr id="17" name="Text 10"/>
          <p:cNvSpPr/>
          <p:nvPr/>
        </p:nvSpPr>
        <p:spPr>
          <a:xfrm>
            <a:off x="5044046" y="3200400"/>
            <a:ext cx="1920740" cy="4699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Lorem ipsum dolor sit amet, consectetur adipiscing elit, sed do eiusmod tempor</a:t>
            </a:r>
            <a:endParaRPr lang="en-US" sz="900" dirty="0"/>
          </a:p>
        </p:txBody>
      </p:sp>
      <p:sp>
        <p:nvSpPr>
          <p:cNvPr id="18" name="Shape 11"/>
          <p:cNvSpPr/>
          <p:nvPr/>
        </p:nvSpPr>
        <p:spPr>
          <a:xfrm>
            <a:off x="6909792" y="2571750"/>
            <a:ext cx="1714500" cy="457200"/>
          </a:xfrm>
          <a:prstGeom prst="rect">
            <a:avLst/>
          </a:prstGeom>
          <a:solidFill>
            <a:srgbClr val="1B8C2D"/>
          </a:solidFill>
          <a:ln/>
        </p:spPr>
      </p:sp>
      <p:sp>
        <p:nvSpPr>
          <p:cNvPr id="19" name="Text 12"/>
          <p:cNvSpPr/>
          <p:nvPr/>
        </p:nvSpPr>
        <p:spPr>
          <a:xfrm>
            <a:off x="7341208" y="2691743"/>
            <a:ext cx="1008831" cy="207169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38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Strategy 04</a:t>
            </a:r>
            <a:endParaRPr lang="en-US" sz="1238" dirty="0"/>
          </a:p>
        </p:txBody>
      </p:sp>
      <p:sp>
        <p:nvSpPr>
          <p:cNvPr id="20" name="Text 13"/>
          <p:cNvSpPr/>
          <p:nvPr/>
        </p:nvSpPr>
        <p:spPr>
          <a:xfrm>
            <a:off x="6926424" y="3200400"/>
            <a:ext cx="1920740" cy="4699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Lorem ipsum dolor sit amet, consectetur adipiscing elit, sed do eiusmod tempor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0050" y="171450"/>
            <a:ext cx="1571625" cy="1428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85750" y="185738"/>
            <a:ext cx="7024003" cy="607219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3600" spc="-90" kern="0" dirty="0">
                <a:solidFill>
                  <a:srgbClr val="11182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Scaling New Heights Together</a:t>
            </a:r>
            <a:endParaRPr lang="en-US" sz="3600" dirty="0"/>
          </a:p>
        </p:txBody>
      </p:sp>
      <p:sp>
        <p:nvSpPr>
          <p:cNvPr id="6" name="Text 2"/>
          <p:cNvSpPr/>
          <p:nvPr/>
        </p:nvSpPr>
        <p:spPr>
          <a:xfrm>
            <a:off x="285750" y="863166"/>
            <a:ext cx="7196649" cy="150019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Lorem ipsum dolor sit amet, consectetur adipiscing elit, sed do eiusmod tempor incididunt ut labore et dolore magna</a:t>
            </a:r>
            <a:endParaRPr lang="en-US" sz="9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5750" y="1270360"/>
            <a:ext cx="4143375" cy="86852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28625" y="1291791"/>
            <a:ext cx="822960" cy="73145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87</a:t>
            </a:r>
            <a:endParaRPr lang="en-US" sz="2700" dirty="0"/>
          </a:p>
        </p:txBody>
      </p:sp>
      <p:sp>
        <p:nvSpPr>
          <p:cNvPr id="9" name="Text 4"/>
          <p:cNvSpPr/>
          <p:nvPr/>
        </p:nvSpPr>
        <p:spPr>
          <a:xfrm>
            <a:off x="774650" y="1498960"/>
            <a:ext cx="324036" cy="22145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%</a:t>
            </a:r>
            <a:endParaRPr lang="en-US" sz="1350" dirty="0"/>
          </a:p>
        </p:txBody>
      </p:sp>
      <p:sp>
        <p:nvSpPr>
          <p:cNvPr id="10" name="Text 5"/>
          <p:cNvSpPr/>
          <p:nvPr/>
        </p:nvSpPr>
        <p:spPr>
          <a:xfrm>
            <a:off x="1016310" y="1370372"/>
            <a:ext cx="2007251" cy="22145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Customer Satisfaction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1016310" y="1663266"/>
            <a:ext cx="3546943" cy="2916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Our customers consistently rate their experience with our products and services as excellent.</a:t>
            </a:r>
            <a:endParaRPr lang="en-US" sz="9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14875" y="1270360"/>
            <a:ext cx="4143375" cy="86852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857750" y="1291791"/>
            <a:ext cx="1062990" cy="73145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2.5</a:t>
            </a:r>
            <a:endParaRPr lang="en-US" sz="2700" dirty="0"/>
          </a:p>
        </p:txBody>
      </p:sp>
      <p:sp>
        <p:nvSpPr>
          <p:cNvPr id="14" name="Text 8"/>
          <p:cNvSpPr/>
          <p:nvPr/>
        </p:nvSpPr>
        <p:spPr>
          <a:xfrm>
            <a:off x="5279343" y="1498960"/>
            <a:ext cx="338993" cy="22145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5542880" y="1370372"/>
            <a:ext cx="1951619" cy="22145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Active Users Monthly</a:t>
            </a:r>
            <a:endParaRPr lang="en-US" sz="1350" dirty="0"/>
          </a:p>
        </p:txBody>
      </p:sp>
      <p:sp>
        <p:nvSpPr>
          <p:cNvPr id="16" name="Text 10"/>
          <p:cNvSpPr/>
          <p:nvPr/>
        </p:nvSpPr>
        <p:spPr>
          <a:xfrm>
            <a:off x="5542880" y="1663266"/>
            <a:ext cx="3402800" cy="2916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Growing user base actively engaging with our platform across multiple regions worldwide.</a:t>
            </a:r>
            <a:endParaRPr lang="en-US" sz="9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85750" y="2310333"/>
            <a:ext cx="4143375" cy="868524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28625" y="2331765"/>
            <a:ext cx="822960" cy="73145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99</a:t>
            </a:r>
            <a:endParaRPr lang="en-US" sz="2700" dirty="0"/>
          </a:p>
        </p:txBody>
      </p:sp>
      <p:sp>
        <p:nvSpPr>
          <p:cNvPr id="19" name="Text 12"/>
          <p:cNvSpPr/>
          <p:nvPr/>
        </p:nvSpPr>
        <p:spPr>
          <a:xfrm>
            <a:off x="806239" y="2538933"/>
            <a:ext cx="324036" cy="22145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%</a:t>
            </a:r>
            <a:endParaRPr lang="en-US" sz="1350" dirty="0"/>
          </a:p>
        </p:txBody>
      </p:sp>
      <p:sp>
        <p:nvSpPr>
          <p:cNvPr id="20" name="Text 13"/>
          <p:cNvSpPr/>
          <p:nvPr/>
        </p:nvSpPr>
        <p:spPr>
          <a:xfrm>
            <a:off x="1047899" y="2410346"/>
            <a:ext cx="1412342" cy="22145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System Uptime</a:t>
            </a:r>
            <a:endParaRPr lang="en-US" sz="1350" dirty="0"/>
          </a:p>
        </p:txBody>
      </p:sp>
      <p:sp>
        <p:nvSpPr>
          <p:cNvPr id="21" name="Text 14"/>
          <p:cNvSpPr/>
          <p:nvPr/>
        </p:nvSpPr>
        <p:spPr>
          <a:xfrm>
            <a:off x="1047899" y="2703240"/>
            <a:ext cx="3458432" cy="2916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Maintaining exceptional reliability with industry-leading system availability and performance.</a:t>
            </a:r>
            <a:endParaRPr lang="en-US" sz="90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714875" y="2310333"/>
            <a:ext cx="4143375" cy="868524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4857750" y="2331765"/>
            <a:ext cx="1062990" cy="73145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142</a:t>
            </a:r>
            <a:endParaRPr lang="en-US" sz="2700" dirty="0"/>
          </a:p>
        </p:txBody>
      </p:sp>
      <p:sp>
        <p:nvSpPr>
          <p:cNvPr id="24" name="Text 16"/>
          <p:cNvSpPr/>
          <p:nvPr/>
        </p:nvSpPr>
        <p:spPr>
          <a:xfrm>
            <a:off x="5346874" y="2538933"/>
            <a:ext cx="298698" cy="22145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+</a:t>
            </a:r>
            <a:endParaRPr lang="en-US" sz="1350" dirty="0"/>
          </a:p>
        </p:txBody>
      </p:sp>
      <p:sp>
        <p:nvSpPr>
          <p:cNvPr id="25" name="Text 17"/>
          <p:cNvSpPr/>
          <p:nvPr/>
        </p:nvSpPr>
        <p:spPr>
          <a:xfrm>
            <a:off x="5561744" y="2410346"/>
            <a:ext cx="1429196" cy="22145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Global Partners</a:t>
            </a:r>
            <a:endParaRPr lang="en-US" sz="1350" dirty="0"/>
          </a:p>
        </p:txBody>
      </p:sp>
      <p:sp>
        <p:nvSpPr>
          <p:cNvPr id="26" name="Text 18"/>
          <p:cNvSpPr/>
          <p:nvPr/>
        </p:nvSpPr>
        <p:spPr>
          <a:xfrm>
            <a:off x="5561744" y="2703240"/>
            <a:ext cx="3265283" cy="2916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Strategic partnerships driving innovation and market expansion across key industry sectors.</a:t>
            </a:r>
            <a:endParaRPr lang="en-US" sz="900" dirty="0"/>
          </a:p>
        </p:txBody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85750" y="3350307"/>
            <a:ext cx="4143375" cy="868524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428625" y="3371738"/>
            <a:ext cx="822960" cy="73145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32</a:t>
            </a:r>
            <a:endParaRPr lang="en-US" sz="2700" dirty="0"/>
          </a:p>
        </p:txBody>
      </p:sp>
      <p:sp>
        <p:nvSpPr>
          <p:cNvPr id="29" name="Text 20"/>
          <p:cNvSpPr/>
          <p:nvPr/>
        </p:nvSpPr>
        <p:spPr>
          <a:xfrm>
            <a:off x="775990" y="3578907"/>
            <a:ext cx="291465" cy="22145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x</a:t>
            </a:r>
            <a:endParaRPr lang="en-US" sz="1350" dirty="0"/>
          </a:p>
        </p:txBody>
      </p:sp>
      <p:sp>
        <p:nvSpPr>
          <p:cNvPr id="30" name="Text 21"/>
          <p:cNvSpPr/>
          <p:nvPr/>
        </p:nvSpPr>
        <p:spPr>
          <a:xfrm>
            <a:off x="979475" y="3450320"/>
            <a:ext cx="1525302" cy="22145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Revenue Growth</a:t>
            </a:r>
            <a:endParaRPr lang="en-US" sz="1350" dirty="0"/>
          </a:p>
        </p:txBody>
      </p:sp>
      <p:sp>
        <p:nvSpPr>
          <p:cNvPr id="31" name="Text 22"/>
          <p:cNvSpPr/>
          <p:nvPr/>
        </p:nvSpPr>
        <p:spPr>
          <a:xfrm>
            <a:off x="979475" y="3743213"/>
            <a:ext cx="3233654" cy="2916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Year-over-year growth demonstrating strong market position and business model scalability.</a:t>
            </a:r>
            <a:endParaRPr lang="en-US" sz="900" dirty="0"/>
          </a:p>
        </p:txBody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714875" y="3350307"/>
            <a:ext cx="4143375" cy="868524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4857750" y="3371738"/>
            <a:ext cx="1062990" cy="73145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500</a:t>
            </a:r>
            <a:endParaRPr lang="en-US" sz="2700" dirty="0"/>
          </a:p>
        </p:txBody>
      </p:sp>
      <p:sp>
        <p:nvSpPr>
          <p:cNvPr id="34" name="Text 24"/>
          <p:cNvSpPr/>
          <p:nvPr/>
        </p:nvSpPr>
        <p:spPr>
          <a:xfrm>
            <a:off x="5440077" y="3578907"/>
            <a:ext cx="291465" cy="22145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K</a:t>
            </a:r>
            <a:endParaRPr lang="en-US" sz="1350" dirty="0"/>
          </a:p>
        </p:txBody>
      </p:sp>
      <p:sp>
        <p:nvSpPr>
          <p:cNvPr id="35" name="Text 25"/>
          <p:cNvSpPr/>
          <p:nvPr/>
        </p:nvSpPr>
        <p:spPr>
          <a:xfrm>
            <a:off x="5666891" y="3450320"/>
            <a:ext cx="1320366" cy="22145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Carbon Offset</a:t>
            </a:r>
            <a:endParaRPr lang="en-US" sz="1350" dirty="0"/>
          </a:p>
        </p:txBody>
      </p:sp>
      <p:sp>
        <p:nvSpPr>
          <p:cNvPr id="36" name="Text 26"/>
          <p:cNvSpPr/>
          <p:nvPr/>
        </p:nvSpPr>
        <p:spPr>
          <a:xfrm>
            <a:off x="5666891" y="3743213"/>
            <a:ext cx="3392674" cy="2916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Committed to sustainability through significant carbon reduction and environmental initiatives.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4350" y="171450"/>
            <a:ext cx="1571625" cy="1428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42900" y="185738"/>
            <a:ext cx="7019627" cy="9911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3600" b="1" spc="-90" kern="0" dirty="0">
                <a:solidFill>
                  <a:srgbClr val="11182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Our Vision And Strategy For Excellence</a:t>
            </a:r>
            <a:endParaRPr lang="en-US" sz="3600" dirty="0"/>
          </a:p>
        </p:txBody>
      </p:sp>
      <p:sp>
        <p:nvSpPr>
          <p:cNvPr id="6" name="Text 2"/>
          <p:cNvSpPr/>
          <p:nvPr/>
        </p:nvSpPr>
        <p:spPr>
          <a:xfrm>
            <a:off x="342900" y="914400"/>
            <a:ext cx="8198150" cy="2962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Lorem ipsum dolor sit amet, consectetur adipiscing elit, sed do eiusmod tempor incididunt ut labore et dolore magna aliqua. Ut enim ad minim veniam, quis nostrud exercitation</a:t>
            </a:r>
            <a:endParaRPr lang="en-US" sz="9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5750" y="1574192"/>
            <a:ext cx="1971675" cy="265167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86830" y="1781361"/>
            <a:ext cx="940854" cy="22145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1182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Research</a:t>
            </a:r>
            <a:endParaRPr lang="en-US" sz="135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00088" y="2267136"/>
            <a:ext cx="1143000" cy="1143000"/>
          </a:xfrm>
          <a:prstGeom prst="rect">
            <a:avLst/>
          </a:prstGeom>
        </p:spPr>
      </p:pic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07244" y="2374292"/>
            <a:ext cx="928688" cy="928688"/>
          </a:xfrm>
          <a:prstGeom prst="rect">
            <a:avLst/>
          </a:prstGeom>
        </p:spPr>
      </p:pic>
      <p:pic>
        <p:nvPicPr>
          <p:cNvPr id="11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71538" y="2438586"/>
            <a:ext cx="800100" cy="800100"/>
          </a:xfrm>
          <a:prstGeom prst="rect">
            <a:avLst/>
          </a:prstGeom>
        </p:spPr>
      </p:pic>
      <p:sp>
        <p:nvSpPr>
          <p:cNvPr id="12" name="Text 4"/>
          <p:cNvSpPr/>
          <p:nvPr/>
        </p:nvSpPr>
        <p:spPr>
          <a:xfrm>
            <a:off x="910382" y="2687166"/>
            <a:ext cx="950900" cy="30003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1182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6700K</a:t>
            </a:r>
            <a:endParaRPr lang="en-US" sz="1800" dirty="0"/>
          </a:p>
        </p:txBody>
      </p:sp>
      <p:sp>
        <p:nvSpPr>
          <p:cNvPr id="13" name="Text 5"/>
          <p:cNvSpPr/>
          <p:nvPr/>
        </p:nvSpPr>
        <p:spPr>
          <a:xfrm>
            <a:off x="679214" y="3645880"/>
            <a:ext cx="1380798" cy="2962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Lorem ipsum dolor sit amet, consectetur</a:t>
            </a:r>
            <a:endParaRPr lang="en-US" sz="900" dirty="0"/>
          </a:p>
        </p:txBody>
      </p:sp>
      <p:pic>
        <p:nvPicPr>
          <p:cNvPr id="14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486025" y="1574192"/>
            <a:ext cx="1971675" cy="2651671"/>
          </a:xfrm>
          <a:prstGeom prst="rect">
            <a:avLst/>
          </a:prstGeom>
        </p:spPr>
      </p:pic>
      <p:sp>
        <p:nvSpPr>
          <p:cNvPr id="15" name="Text 6"/>
          <p:cNvSpPr/>
          <p:nvPr/>
        </p:nvSpPr>
        <p:spPr>
          <a:xfrm>
            <a:off x="2927152" y="1781361"/>
            <a:ext cx="1260760" cy="3929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1182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Development</a:t>
            </a:r>
            <a:endParaRPr lang="en-US" sz="1350" dirty="0"/>
          </a:p>
        </p:txBody>
      </p:sp>
      <p:pic>
        <p:nvPicPr>
          <p:cNvPr id="16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900363" y="2267136"/>
            <a:ext cx="1143000" cy="1143000"/>
          </a:xfrm>
          <a:prstGeom prst="rect">
            <a:avLst/>
          </a:prstGeom>
        </p:spPr>
      </p:pic>
      <p:pic>
        <p:nvPicPr>
          <p:cNvPr id="17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007519" y="2374292"/>
            <a:ext cx="928688" cy="928688"/>
          </a:xfrm>
          <a:prstGeom prst="rect">
            <a:avLst/>
          </a:prstGeom>
        </p:spPr>
      </p:pic>
      <p:pic>
        <p:nvPicPr>
          <p:cNvPr id="18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3071813" y="2438586"/>
            <a:ext cx="800100" cy="800100"/>
          </a:xfrm>
          <a:prstGeom prst="rect">
            <a:avLst/>
          </a:prstGeom>
        </p:spPr>
      </p:pic>
      <p:sp>
        <p:nvSpPr>
          <p:cNvPr id="19" name="Text 7"/>
          <p:cNvSpPr/>
          <p:nvPr/>
        </p:nvSpPr>
        <p:spPr>
          <a:xfrm>
            <a:off x="3251634" y="2687166"/>
            <a:ext cx="708660" cy="30003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1182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80K</a:t>
            </a:r>
            <a:endParaRPr lang="en-US" sz="1800" dirty="0"/>
          </a:p>
        </p:txBody>
      </p:sp>
      <p:sp>
        <p:nvSpPr>
          <p:cNvPr id="20" name="Text 8"/>
          <p:cNvSpPr/>
          <p:nvPr/>
        </p:nvSpPr>
        <p:spPr>
          <a:xfrm>
            <a:off x="2879489" y="3645880"/>
            <a:ext cx="1380798" cy="2962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Lorem ipsum dolor sit amet, consectetur</a:t>
            </a:r>
            <a:endParaRPr lang="en-US" sz="900" dirty="0"/>
          </a:p>
        </p:txBody>
      </p:sp>
      <p:pic>
        <p:nvPicPr>
          <p:cNvPr id="21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4686300" y="1574192"/>
            <a:ext cx="1971675" cy="2651671"/>
          </a:xfrm>
          <a:prstGeom prst="rect">
            <a:avLst/>
          </a:prstGeom>
        </p:spPr>
      </p:pic>
      <p:sp>
        <p:nvSpPr>
          <p:cNvPr id="22" name="Text 9"/>
          <p:cNvSpPr/>
          <p:nvPr/>
        </p:nvSpPr>
        <p:spPr>
          <a:xfrm>
            <a:off x="5287380" y="1781361"/>
            <a:ext cx="940854" cy="22145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1182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Research</a:t>
            </a:r>
            <a:endParaRPr lang="en-US" sz="1350" dirty="0"/>
          </a:p>
        </p:txBody>
      </p:sp>
      <p:pic>
        <p:nvPicPr>
          <p:cNvPr id="23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5100638" y="2267136"/>
            <a:ext cx="1143000" cy="1143000"/>
          </a:xfrm>
          <a:prstGeom prst="rect">
            <a:avLst/>
          </a:prstGeom>
        </p:spPr>
      </p:pic>
      <p:pic>
        <p:nvPicPr>
          <p:cNvPr id="24" name="Image 12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5207794" y="2374292"/>
            <a:ext cx="928688" cy="928688"/>
          </a:xfrm>
          <a:prstGeom prst="rect">
            <a:avLst/>
          </a:prstGeom>
        </p:spPr>
      </p:pic>
      <p:pic>
        <p:nvPicPr>
          <p:cNvPr id="25" name="Image 13" descr="preencoded.png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5272088" y="2438586"/>
            <a:ext cx="800100" cy="800100"/>
          </a:xfrm>
          <a:prstGeom prst="rect">
            <a:avLst/>
          </a:prstGeom>
        </p:spPr>
      </p:pic>
      <p:sp>
        <p:nvSpPr>
          <p:cNvPr id="26" name="Text 10"/>
          <p:cNvSpPr/>
          <p:nvPr/>
        </p:nvSpPr>
        <p:spPr>
          <a:xfrm>
            <a:off x="5424674" y="2687166"/>
            <a:ext cx="723416" cy="30003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1182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67%</a:t>
            </a:r>
            <a:endParaRPr lang="en-US" sz="1800" dirty="0"/>
          </a:p>
        </p:txBody>
      </p:sp>
      <p:sp>
        <p:nvSpPr>
          <p:cNvPr id="27" name="Text 11"/>
          <p:cNvSpPr/>
          <p:nvPr/>
        </p:nvSpPr>
        <p:spPr>
          <a:xfrm>
            <a:off x="5079764" y="3645880"/>
            <a:ext cx="1380798" cy="2962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Lorem ipsum dolor sit amet, consectetur</a:t>
            </a:r>
            <a:endParaRPr lang="en-US" sz="900" dirty="0"/>
          </a:p>
        </p:txBody>
      </p:sp>
      <p:pic>
        <p:nvPicPr>
          <p:cNvPr id="28" name="Image 14" descr="preencoded.png">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6886575" y="1574192"/>
            <a:ext cx="1971675" cy="2651671"/>
          </a:xfrm>
          <a:prstGeom prst="rect">
            <a:avLst/>
          </a:prstGeom>
        </p:spPr>
      </p:pic>
      <p:sp>
        <p:nvSpPr>
          <p:cNvPr id="29" name="Text 12"/>
          <p:cNvSpPr/>
          <p:nvPr/>
        </p:nvSpPr>
        <p:spPr>
          <a:xfrm>
            <a:off x="7327702" y="1781361"/>
            <a:ext cx="1260760" cy="3929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1182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Development</a:t>
            </a:r>
            <a:endParaRPr lang="en-US" sz="1350" dirty="0"/>
          </a:p>
        </p:txBody>
      </p:sp>
      <p:pic>
        <p:nvPicPr>
          <p:cNvPr id="30" name="Image 15" descr="preencoded.png">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7300913" y="2267136"/>
            <a:ext cx="1143000" cy="1143000"/>
          </a:xfrm>
          <a:prstGeom prst="rect">
            <a:avLst/>
          </a:prstGeom>
        </p:spPr>
      </p:pic>
      <p:pic>
        <p:nvPicPr>
          <p:cNvPr id="31" name="Image 16" descr="preencoded.png">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7408069" y="2374292"/>
            <a:ext cx="928688" cy="928688"/>
          </a:xfrm>
          <a:prstGeom prst="rect">
            <a:avLst/>
          </a:prstGeom>
        </p:spPr>
      </p:pic>
      <p:pic>
        <p:nvPicPr>
          <p:cNvPr id="32" name="Image 17" descr="preencoded.png">    </p:cNvPr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7472363" y="2438586"/>
            <a:ext cx="800100" cy="800100"/>
          </a:xfrm>
          <a:prstGeom prst="rect">
            <a:avLst/>
          </a:prstGeom>
        </p:spPr>
      </p:pic>
      <p:sp>
        <p:nvSpPr>
          <p:cNvPr id="33" name="Text 13"/>
          <p:cNvSpPr/>
          <p:nvPr/>
        </p:nvSpPr>
        <p:spPr>
          <a:xfrm>
            <a:off x="7652184" y="2687166"/>
            <a:ext cx="708660" cy="30003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1182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80K</a:t>
            </a:r>
            <a:endParaRPr lang="en-US" sz="1800" dirty="0"/>
          </a:p>
        </p:txBody>
      </p:sp>
      <p:sp>
        <p:nvSpPr>
          <p:cNvPr id="34" name="Text 14"/>
          <p:cNvSpPr/>
          <p:nvPr/>
        </p:nvSpPr>
        <p:spPr>
          <a:xfrm>
            <a:off x="7280039" y="3645880"/>
            <a:ext cx="1380798" cy="2962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Lorem ipsum dolor sit amet, consectetur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2026-08-12T08:38:37Z</dcterms:created>
  <dcterms:modified xsi:type="dcterms:W3CDTF">2026-08-12T08:38:37Z</dcterms:modified>
</cp:coreProperties>
</file>